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League Spartan" charset="1" panose="00000800000000000000"/>
      <p:regular r:id="rId27"/>
    </p:embeddedFont>
    <p:embeddedFont>
      <p:font typeface="Poppins" charset="1" panose="00000500000000000000"/>
      <p:regular r:id="rId28"/>
    </p:embeddedFont>
    <p:embeddedFont>
      <p:font typeface="Canva Sans" charset="1" panose="020B0503030501040103"/>
      <p:regular r:id="rId29"/>
    </p:embeddedFont>
    <p:embeddedFont>
      <p:font typeface="Canva Sans Bold" charset="1" panose="020B08030305010401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5277" y="2663444"/>
            <a:ext cx="17052562" cy="288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KIỂM THỬ WEBSITE BÁN MÁY TÍNH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290853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880587" y="7833543"/>
            <a:ext cx="8526827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Thành viên nhóm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Huỳnh Lê Hoàng Tuấn - 3122411233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841739" y="7748631"/>
            <a:ext cx="3086100" cy="2171499"/>
            <a:chOff x="0" y="0"/>
            <a:chExt cx="812800" cy="5719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83399" y="932596"/>
            <a:ext cx="1153252" cy="984054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5358631" y="4962925"/>
            <a:ext cx="6963828" cy="4062950"/>
          </a:xfrm>
          <a:custGeom>
            <a:avLst/>
            <a:gdLst/>
            <a:ahLst/>
            <a:cxnLst/>
            <a:rect r="r" b="b" t="t" l="l"/>
            <a:pathLst>
              <a:path h="4062950" w="6963828">
                <a:moveTo>
                  <a:pt x="0" y="0"/>
                </a:moveTo>
                <a:lnTo>
                  <a:pt x="6963828" y="0"/>
                </a:lnTo>
                <a:lnTo>
                  <a:pt x="6963828" y="4062950"/>
                </a:lnTo>
                <a:lnTo>
                  <a:pt x="0" y="4062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85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65196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AutoNum type="arabicPeriod" startAt="1"/>
            </a:pP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Giới Thiệu Đề Tài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1722" y="2631180"/>
            <a:ext cx="9911068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Kiểm thử Website 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Đối tượng: Website Computer Store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71573" y="5729944"/>
            <a:ext cx="5287727" cy="3528356"/>
          </a:xfrm>
          <a:custGeom>
            <a:avLst/>
            <a:gdLst/>
            <a:ahLst/>
            <a:cxnLst/>
            <a:rect r="r" b="b" t="t" l="l"/>
            <a:pathLst>
              <a:path h="3528356" w="5287727">
                <a:moveTo>
                  <a:pt x="0" y="0"/>
                </a:moveTo>
                <a:lnTo>
                  <a:pt x="5287727" y="0"/>
                </a:lnTo>
                <a:lnTo>
                  <a:pt x="5287727" y="3528356"/>
                </a:lnTo>
                <a:lnTo>
                  <a:pt x="0" y="3528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55404" y="5729944"/>
            <a:ext cx="1152834" cy="1161280"/>
          </a:xfrm>
          <a:custGeom>
            <a:avLst/>
            <a:gdLst/>
            <a:ahLst/>
            <a:cxnLst/>
            <a:rect r="r" b="b" t="t" l="l"/>
            <a:pathLst>
              <a:path h="1161280" w="1152834">
                <a:moveTo>
                  <a:pt x="0" y="0"/>
                </a:moveTo>
                <a:lnTo>
                  <a:pt x="1152834" y="0"/>
                </a:lnTo>
                <a:lnTo>
                  <a:pt x="1152834" y="1161280"/>
                </a:lnTo>
                <a:lnTo>
                  <a:pt x="0" y="1161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100846"/>
            <a:ext cx="15732562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Thách thức trong kiểm thử Web TMĐT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Kiến thức còn hạn chế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Nhiều nghiệp vụ phức tạp (giỏ hàng, thanh toán, phân quyền)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Tích hợp hệ thống bên thứ ba (Momo)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14366"/>
            <a:ext cx="74210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Khó khăn &amp; Thách thức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82102" y="4887504"/>
            <a:ext cx="3336729" cy="4114800"/>
          </a:xfrm>
          <a:custGeom>
            <a:avLst/>
            <a:gdLst/>
            <a:ahLst/>
            <a:cxnLst/>
            <a:rect r="r" b="b" t="t" l="l"/>
            <a:pathLst>
              <a:path h="4114800" w="3336729">
                <a:moveTo>
                  <a:pt x="0" y="0"/>
                </a:moveTo>
                <a:lnTo>
                  <a:pt x="3336729" y="0"/>
                </a:lnTo>
                <a:lnTo>
                  <a:pt x="33367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25875" y="3452404"/>
            <a:ext cx="12913965" cy="279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Xây dựng kế hoạch kiểm thử đầy đủ theo V-Model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Kết hợp kiểm thử thủ công &amp; tự động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Áp dụng kiểm thử ở nhiều cấp độ</a:t>
            </a:r>
          </a:p>
          <a:p>
            <a:pPr algn="just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Tích hợp kiểm thử vào CI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58690" y="1601763"/>
            <a:ext cx="877062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Hướng tiếp cận &amp; đóng góp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1605"/>
            <a:ext cx="719923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 Kế Hoạch Kiểm Thử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44860" y="933450"/>
            <a:ext cx="1099828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Quy Trình Kiểm Thử Theo V-Modal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134717"/>
            <a:ext cx="8668772" cy="2380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Yêu cầu ↔ Kiểm thử chấp nhận</a:t>
            </a:r>
          </a:p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Thiết kế hệ thống ↔ Kiểm thử hệ thống</a:t>
            </a:r>
          </a:p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Thiết kế kiến trúc ↔ Kiểm thử tích hợp</a:t>
            </a:r>
          </a:p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Thiết kế module ↔ Kiểm thử đơn vị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5250" y="4660996"/>
            <a:ext cx="3576340" cy="3226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Phân tích yêu cầu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Nguồn yêu cầu: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SRS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Case</a:t>
            </a:r>
          </a:p>
          <a:p>
            <a:pPr algn="l" marL="669285" indent="-334642" lvl="1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Story</a:t>
            </a:r>
          </a:p>
          <a:p>
            <a:pPr algn="l">
              <a:lnSpc>
                <a:spcPts val="43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35863" y="537527"/>
            <a:ext cx="585954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Thiết Kế Hệ Thống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9638" y="2620297"/>
            <a:ext cx="4795986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Đăng nhập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Giỏ hàng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Quản lý đơn hàng</a:t>
            </a:r>
          </a:p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áp dụng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case testing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Workflow testing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End-to-End testing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68357" y="2644775"/>
            <a:ext cx="5194553" cy="616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Model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User, Product, Order, Payment, Category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dữ liệu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Ràng buộc khóa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Tính toàn vẹn dữ liệu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Đồng bộ dữ liệu giữa API &amp; Database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96310" y="2644775"/>
            <a:ext cx="6491690" cy="442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5"/>
              </a:lnSpc>
              <a:spcBef>
                <a:spcPct val="0"/>
              </a:spcBef>
            </a:pPr>
            <a:r>
              <a:rPr lang="en-US" b="true" sz="361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Đối tượng (UI/UX DESIGN)</a:t>
            </a:r>
          </a:p>
          <a:p>
            <a:pPr algn="l" marL="781113" indent="-390557" lvl="1">
              <a:lnSpc>
                <a:spcPts val="5065"/>
              </a:lnSpc>
              <a:buFont typeface="Arial"/>
              <a:buChar char="•"/>
            </a:pPr>
            <a:r>
              <a:rPr lang="en-US" sz="36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Form nhập liệu</a:t>
            </a:r>
          </a:p>
          <a:p>
            <a:pPr algn="l" marL="781113" indent="-390557" lvl="1">
              <a:lnSpc>
                <a:spcPts val="5065"/>
              </a:lnSpc>
              <a:buFont typeface="Arial"/>
              <a:buChar char="•"/>
            </a:pPr>
            <a:r>
              <a:rPr lang="en-US" sz="36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Điều hướng</a:t>
            </a:r>
          </a:p>
          <a:p>
            <a:pPr algn="l" marL="781113" indent="-390557" lvl="1">
              <a:lnSpc>
                <a:spcPts val="5065"/>
              </a:lnSpc>
              <a:buFont typeface="Arial"/>
              <a:buChar char="•"/>
            </a:pPr>
            <a:r>
              <a:rPr lang="en-US" sz="36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Thông báo lỗi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</a:t>
            </a:r>
          </a:p>
          <a:p>
            <a:pPr algn="l" marL="781113" indent="-390557" lvl="1">
              <a:lnSpc>
                <a:spcPts val="5065"/>
              </a:lnSpc>
              <a:buFont typeface="Arial"/>
              <a:buChar char="•"/>
            </a:pPr>
            <a:r>
              <a:rPr lang="en-US" sz="36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Usability testing</a:t>
            </a:r>
          </a:p>
          <a:p>
            <a:pPr algn="l" marL="781113" indent="-390557" lvl="1">
              <a:lnSpc>
                <a:spcPts val="5065"/>
              </a:lnSpc>
              <a:buFont typeface="Arial"/>
              <a:buChar char="•"/>
            </a:pPr>
            <a:r>
              <a:rPr lang="en-US" sz="36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UI automation (Selenium)</a:t>
            </a:r>
          </a:p>
        </p:txBody>
      </p:sp>
      <p:sp>
        <p:nvSpPr>
          <p:cNvPr name="AutoShape 7" id="7"/>
          <p:cNvSpPr/>
          <p:nvPr/>
        </p:nvSpPr>
        <p:spPr>
          <a:xfrm flipH="true" flipV="true">
            <a:off x="5368633" y="2711450"/>
            <a:ext cx="0" cy="65468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1529610" y="2711450"/>
            <a:ext cx="0" cy="65468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9590" y="942975"/>
            <a:ext cx="6639639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Phi Chức Năng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52270" y="942975"/>
            <a:ext cx="9168170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Kiến Trúc Và Chiến Lược Kiểm Thử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7954359" y="1925162"/>
            <a:ext cx="0" cy="74839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832526" y="2644775"/>
            <a:ext cx="3546872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Hiệu năng: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Load Test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Stress Test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Bảo mật cơ bản: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Xác thực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Phân quyền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Khả dụng: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UI &amp; UX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30636" y="2644775"/>
            <a:ext cx="7526834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Thiết kế kiến trúc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Frontend – Backend – Database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API giao tiếp REST</a:t>
            </a:r>
          </a:p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Chiến lược kiểm thử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Unit Test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Integration Test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Test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58026" y="560423"/>
            <a:ext cx="11301259" cy="4350985"/>
          </a:xfrm>
          <a:custGeom>
            <a:avLst/>
            <a:gdLst/>
            <a:ahLst/>
            <a:cxnLst/>
            <a:rect r="r" b="b" t="t" l="l"/>
            <a:pathLst>
              <a:path h="4350985" w="11301259">
                <a:moveTo>
                  <a:pt x="0" y="0"/>
                </a:moveTo>
                <a:lnTo>
                  <a:pt x="11301259" y="0"/>
                </a:lnTo>
                <a:lnTo>
                  <a:pt x="11301259" y="4350985"/>
                </a:lnTo>
                <a:lnTo>
                  <a:pt x="0" y="4350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09993" y="5143500"/>
            <a:ext cx="5703683" cy="3628968"/>
          </a:xfrm>
          <a:custGeom>
            <a:avLst/>
            <a:gdLst/>
            <a:ahLst/>
            <a:cxnLst/>
            <a:rect r="r" b="b" t="t" l="l"/>
            <a:pathLst>
              <a:path h="3628968" w="5703683">
                <a:moveTo>
                  <a:pt x="0" y="0"/>
                </a:moveTo>
                <a:lnTo>
                  <a:pt x="5703683" y="0"/>
                </a:lnTo>
                <a:lnTo>
                  <a:pt x="5703683" y="3628968"/>
                </a:lnTo>
                <a:lnTo>
                  <a:pt x="0" y="3628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00061" y="4854258"/>
            <a:ext cx="2754987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2.1. Sơ đồ khối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35260" y="9351962"/>
            <a:ext cx="3758922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2.2. Sơ đồ ngữ cảnh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54258" y="6944574"/>
            <a:ext cx="3113127" cy="6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40"/>
              </a:lnSpc>
              <a:spcBef>
                <a:spcPct val="0"/>
              </a:spcBef>
            </a:pPr>
            <a:r>
              <a:rPr lang="en-US" b="true" sz="4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Kiến trúc C4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0626" y="1028700"/>
            <a:ext cx="6568708" cy="6297748"/>
          </a:xfrm>
          <a:custGeom>
            <a:avLst/>
            <a:gdLst/>
            <a:ahLst/>
            <a:cxnLst/>
            <a:rect r="r" b="b" t="t" l="l"/>
            <a:pathLst>
              <a:path h="6297748" w="6568708">
                <a:moveTo>
                  <a:pt x="0" y="0"/>
                </a:moveTo>
                <a:lnTo>
                  <a:pt x="6568708" y="0"/>
                </a:lnTo>
                <a:lnTo>
                  <a:pt x="6568708" y="6297748"/>
                </a:lnTo>
                <a:lnTo>
                  <a:pt x="0" y="6297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12109" y="1239451"/>
            <a:ext cx="8455030" cy="5876246"/>
          </a:xfrm>
          <a:custGeom>
            <a:avLst/>
            <a:gdLst/>
            <a:ahLst/>
            <a:cxnLst/>
            <a:rect r="r" b="b" t="t" l="l"/>
            <a:pathLst>
              <a:path h="5876246" w="8455030">
                <a:moveTo>
                  <a:pt x="0" y="0"/>
                </a:moveTo>
                <a:lnTo>
                  <a:pt x="8455030" y="0"/>
                </a:lnTo>
                <a:lnTo>
                  <a:pt x="8455030" y="5876246"/>
                </a:lnTo>
                <a:lnTo>
                  <a:pt x="0" y="587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56070" y="7938607"/>
            <a:ext cx="3876318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2.3. Sơ đồ Container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12264" y="7938607"/>
            <a:ext cx="4239220" cy="521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2.4. Sơ đồ Thành phần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9853" y="3108892"/>
            <a:ext cx="13950255" cy="458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Kiểm thử hộp đen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Kiểm thử hộp trắng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Kiểm thử nghiệp vụ (Use case, Workflow)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Kiểm thử đơn vị &amp; tích hợp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85768"/>
            <a:ext cx="1369111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Các phương pháp luận trong kiểm thử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7846333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Kỹ thuật sử dụng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Phân vùng tương đương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Chuyển trạng thái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Bảng quyết định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 case testing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10204" y="2673350"/>
            <a:ext cx="6911578" cy="62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Ví dụ chi tiết Bảng quyết định: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6224588" y="3021648"/>
            <a:ext cx="2585615" cy="4901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510968" y="4943710"/>
            <a:ext cx="6256044" cy="4327658"/>
          </a:xfrm>
          <a:custGeom>
            <a:avLst/>
            <a:gdLst/>
            <a:ahLst/>
            <a:cxnLst/>
            <a:rect r="r" b="b" t="t" l="l"/>
            <a:pathLst>
              <a:path h="4327658" w="6256044">
                <a:moveTo>
                  <a:pt x="0" y="0"/>
                </a:moveTo>
                <a:lnTo>
                  <a:pt x="6256044" y="0"/>
                </a:lnTo>
                <a:lnTo>
                  <a:pt x="6256044" y="4327658"/>
                </a:lnTo>
                <a:lnTo>
                  <a:pt x="0" y="4327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29787" y="4062768"/>
            <a:ext cx="5135319" cy="5497157"/>
          </a:xfrm>
          <a:custGeom>
            <a:avLst/>
            <a:gdLst/>
            <a:ahLst/>
            <a:cxnLst/>
            <a:rect r="r" b="b" t="t" l="l"/>
            <a:pathLst>
              <a:path h="5497157" w="5135319">
                <a:moveTo>
                  <a:pt x="0" y="0"/>
                </a:moveTo>
                <a:lnTo>
                  <a:pt x="5135318" y="0"/>
                </a:lnTo>
                <a:lnTo>
                  <a:pt x="5135318" y="5497157"/>
                </a:lnTo>
                <a:lnTo>
                  <a:pt x="0" y="54971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34308" y="141605"/>
            <a:ext cx="588145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Hộp đen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59695" y="2039294"/>
            <a:ext cx="5081259" cy="5692448"/>
          </a:xfrm>
          <a:custGeom>
            <a:avLst/>
            <a:gdLst/>
            <a:ahLst/>
            <a:cxnLst/>
            <a:rect r="r" b="b" t="t" l="l"/>
            <a:pathLst>
              <a:path h="5692448" w="5081259">
                <a:moveTo>
                  <a:pt x="0" y="0"/>
                </a:moveTo>
                <a:lnTo>
                  <a:pt x="5081259" y="0"/>
                </a:lnTo>
                <a:lnTo>
                  <a:pt x="5081259" y="5692448"/>
                </a:lnTo>
                <a:lnTo>
                  <a:pt x="0" y="5692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90785" y="2401571"/>
            <a:ext cx="6581394" cy="5225876"/>
          </a:xfrm>
          <a:custGeom>
            <a:avLst/>
            <a:gdLst/>
            <a:ahLst/>
            <a:cxnLst/>
            <a:rect r="r" b="b" t="t" l="l"/>
            <a:pathLst>
              <a:path h="5225876" w="6581394">
                <a:moveTo>
                  <a:pt x="0" y="0"/>
                </a:moveTo>
                <a:lnTo>
                  <a:pt x="6581394" y="0"/>
                </a:lnTo>
                <a:lnTo>
                  <a:pt x="6581394" y="5225876"/>
                </a:lnTo>
                <a:lnTo>
                  <a:pt x="0" y="5225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100000">
            <a:off x="7881863" y="1441311"/>
            <a:ext cx="2647225" cy="2696247"/>
          </a:xfrm>
          <a:custGeom>
            <a:avLst/>
            <a:gdLst/>
            <a:ahLst/>
            <a:cxnLst/>
            <a:rect r="r" b="b" t="t" l="l"/>
            <a:pathLst>
              <a:path h="2696247" w="2647225">
                <a:moveTo>
                  <a:pt x="0" y="0"/>
                </a:moveTo>
                <a:lnTo>
                  <a:pt x="2647225" y="0"/>
                </a:lnTo>
                <a:lnTo>
                  <a:pt x="2647225" y="2696247"/>
                </a:lnTo>
                <a:lnTo>
                  <a:pt x="0" y="269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54169" y="141605"/>
            <a:ext cx="644172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Hộp Trắng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64917" y="1475033"/>
            <a:ext cx="5978714" cy="259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Dựa trên cấu trúc mã nguồn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Kiểm tra: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Nhánh điều kiện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Luồng logic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Xử lý ngoại lệ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94678" y="1475033"/>
            <a:ext cx="3904417" cy="154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Áp dụng cho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Kiểm thử đơn vị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Kiểm thử tích hợp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82603" y="5376334"/>
            <a:ext cx="7122795" cy="259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Phân tích logic bằng White-box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Xây dựng CFG (Control Flow Graph)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Tính Cyclomatic Complexity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Xác định các đường đi độc lập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Thiết kế Test Case tương ứng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750" y="154048"/>
            <a:ext cx="4750880" cy="531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export</a:t>
            </a: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const getAllProducts = async (req, res) =&gt; {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try {                                      // Node 1: Bắt đầu try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const products = await Product.findAll({ // Node 2: Gọi DB query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include: [{ model: Category, attributes: ["category_name"] }],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order: [["created_at", "DESC"]],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});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 // Node 3: Trả kết quả thành công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res.json(products);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} catch (err) {                            // Node 4: Bắt lỗi (catch)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console.error(err);                      // Node 5: Log lỗi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res.status(500).json({ message: "Lỗi khi lấy sản phẩm" }); // Node 6: Trả lỗi 500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}                                          // Node 7: Kết thúc hàm</a:t>
            </a:r>
          </a:p>
          <a:p>
            <a:pPr algn="l">
              <a:lnSpc>
                <a:spcPts val="2206"/>
              </a:lnSpc>
              <a:spcBef>
                <a:spcPct val="0"/>
              </a:spcBef>
            </a:pPr>
            <a:r>
              <a:rPr lang="en-US" sz="15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};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931630" y="1523171"/>
            <a:ext cx="3784679" cy="4288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" id="4"/>
          <p:cNvSpPr txBox="true"/>
          <p:nvPr/>
        </p:nvSpPr>
        <p:spPr>
          <a:xfrm rot="0">
            <a:off x="8716309" y="167446"/>
            <a:ext cx="5855861" cy="2936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7"/>
              </a:lnSpc>
              <a:spcBef>
                <a:spcPct val="0"/>
              </a:spcBef>
            </a:pP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Các</a:t>
            </a: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nút và cạnh:</a:t>
            </a:r>
          </a:p>
          <a:p>
            <a:pPr algn="l" marL="363625" indent="-181812" lvl="1">
              <a:lnSpc>
                <a:spcPts val="2357"/>
              </a:lnSpc>
              <a:spcBef>
                <a:spcPct val="0"/>
              </a:spcBef>
              <a:buFont typeface="Arial"/>
              <a:buChar char="•"/>
            </a:pP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Node 1 (try) → Node 2 (query)</a:t>
            </a:r>
          </a:p>
          <a:p>
            <a:pPr algn="l" marL="363625" indent="-181812" lvl="1">
              <a:lnSpc>
                <a:spcPts val="2357"/>
              </a:lnSpc>
              <a:spcBef>
                <a:spcPct val="0"/>
              </a:spcBef>
              <a:buFont typeface="Arial"/>
              <a:buChar char="•"/>
            </a:pP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Node 2 → Node 3 (res.json success)</a:t>
            </a:r>
          </a:p>
          <a:p>
            <a:pPr algn="l" marL="363625" indent="-181812" lvl="1">
              <a:lnSpc>
                <a:spcPts val="2357"/>
              </a:lnSpc>
              <a:spcBef>
                <a:spcPct val="0"/>
              </a:spcBef>
              <a:buFont typeface="Arial"/>
              <a:buChar char="•"/>
            </a:pP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Node 3 → Node 7 (End)</a:t>
            </a:r>
          </a:p>
          <a:p>
            <a:pPr algn="l" marL="363625" indent="-181812" lvl="1">
              <a:lnSpc>
                <a:spcPts val="2357"/>
              </a:lnSpc>
              <a:spcBef>
                <a:spcPct val="0"/>
              </a:spcBef>
              <a:buFont typeface="Arial"/>
              <a:buChar char="•"/>
            </a:pP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Node 1 → Node 4 (nếu có exception trong try)</a:t>
            </a:r>
          </a:p>
          <a:p>
            <a:pPr algn="l" marL="363625" indent="-181812" lvl="1">
              <a:lnSpc>
                <a:spcPts val="2357"/>
              </a:lnSpc>
              <a:spcBef>
                <a:spcPct val="0"/>
              </a:spcBef>
              <a:buFont typeface="Arial"/>
              <a:buChar char="•"/>
            </a:pP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Node 4 → Node 5 (console.error)</a:t>
            </a:r>
          </a:p>
          <a:p>
            <a:pPr algn="l" marL="363625" indent="-181812" lvl="1">
              <a:lnSpc>
                <a:spcPts val="2357"/>
              </a:lnSpc>
              <a:spcBef>
                <a:spcPct val="0"/>
              </a:spcBef>
              <a:buFont typeface="Arial"/>
              <a:buChar char="•"/>
            </a:pP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Node 5 → Node 6 (res.status 500)</a:t>
            </a:r>
          </a:p>
          <a:p>
            <a:pPr algn="l" marL="363625" indent="-181812" lvl="1">
              <a:lnSpc>
                <a:spcPts val="2357"/>
              </a:lnSpc>
              <a:spcBef>
                <a:spcPct val="0"/>
              </a:spcBef>
              <a:buFont typeface="Arial"/>
              <a:buChar char="•"/>
            </a:pP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Node 6 → Node 7 (End)</a:t>
            </a:r>
          </a:p>
          <a:p>
            <a:pPr algn="l">
              <a:lnSpc>
                <a:spcPts val="2357"/>
              </a:lnSpc>
              <a:spcBef>
                <a:spcPct val="0"/>
              </a:spcBef>
            </a:pPr>
            <a:r>
              <a:rPr lang="en-US" sz="16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Số cạnh (E): 6 Số nút (N): 7 Số thành phần liên thông (P): 1</a:t>
            </a:r>
          </a:p>
          <a:p>
            <a:pPr algn="l">
              <a:lnSpc>
                <a:spcPts val="2357"/>
              </a:lnSpc>
              <a:spcBef>
                <a:spcPct val="0"/>
              </a:spcBef>
            </a:pPr>
          </a:p>
        </p:txBody>
      </p:sp>
      <p:sp>
        <p:nvSpPr>
          <p:cNvPr name="AutoShape 5" id="5"/>
          <p:cNvSpPr/>
          <p:nvPr/>
        </p:nvSpPr>
        <p:spPr>
          <a:xfrm>
            <a:off x="13930428" y="2166134"/>
            <a:ext cx="1493593" cy="14935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6" id="6"/>
          <p:cNvSpPr txBox="true"/>
          <p:nvPr/>
        </p:nvSpPr>
        <p:spPr>
          <a:xfrm rot="0">
            <a:off x="7136062" y="3351507"/>
            <a:ext cx="4898540" cy="254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Công thức: M = E - N + 2P → M = 6 - 7 + 2×1 = 2</a:t>
            </a:r>
          </a:p>
          <a:p>
            <a:pPr algn="l">
              <a:lnSpc>
                <a:spcPts val="3432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Ý nghĩa: Có 2 đường đi độc lập trong hàm → cần ít nhất 2 test case để bao phủ toàn bộ logic.</a:t>
            </a:r>
          </a:p>
          <a:p>
            <a:pPr algn="l">
              <a:lnSpc>
                <a:spcPts val="3432"/>
              </a:lnSpc>
              <a:spcBef>
                <a:spcPct val="0"/>
              </a:spcBef>
            </a:pPr>
          </a:p>
        </p:txBody>
      </p:sp>
      <p:sp>
        <p:nvSpPr>
          <p:cNvPr name="AutoShape 7" id="7"/>
          <p:cNvSpPr/>
          <p:nvPr/>
        </p:nvSpPr>
        <p:spPr>
          <a:xfrm flipH="true" flipV="true">
            <a:off x="12034603" y="4947073"/>
            <a:ext cx="1545727" cy="16097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8" id="8"/>
          <p:cNvSpPr txBox="true"/>
          <p:nvPr/>
        </p:nvSpPr>
        <p:spPr>
          <a:xfrm rot="0">
            <a:off x="2112053" y="8813165"/>
            <a:ext cx="16175947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Đường 1 (Thành công): 1 → 2 → 3 → 7 → Query thành công → trả về danh sách sản phẩm.</a:t>
            </a:r>
          </a:p>
          <a:p>
            <a:pPr algn="ctr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Đường 2 (Lỗi): 1 → 4 → 5 → 6 → 7 → Có lỗi xảy ra trong quá trình query (ví dụ: DB disconnect, lỗi model, v.v.) → bắt catch → trả lỗi 500.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>
            <a:off x="9646114" y="6614492"/>
            <a:ext cx="553912" cy="22367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 flipH="false" flipV="false" rot="193771">
            <a:off x="6739129" y="7036715"/>
            <a:ext cx="1734954" cy="1767082"/>
          </a:xfrm>
          <a:custGeom>
            <a:avLst/>
            <a:gdLst/>
            <a:ahLst/>
            <a:cxnLst/>
            <a:rect r="r" b="b" t="t" l="l"/>
            <a:pathLst>
              <a:path h="1767082" w="1734954">
                <a:moveTo>
                  <a:pt x="0" y="0"/>
                </a:moveTo>
                <a:lnTo>
                  <a:pt x="1734954" y="0"/>
                </a:lnTo>
                <a:lnTo>
                  <a:pt x="1734954" y="1767083"/>
                </a:lnTo>
                <a:lnTo>
                  <a:pt x="0" y="17670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78351" y="3744513"/>
            <a:ext cx="4091341" cy="4309131"/>
          </a:xfrm>
          <a:custGeom>
            <a:avLst/>
            <a:gdLst/>
            <a:ahLst/>
            <a:cxnLst/>
            <a:rect r="r" b="b" t="t" l="l"/>
            <a:pathLst>
              <a:path h="4309131" w="4091341">
                <a:moveTo>
                  <a:pt x="0" y="0"/>
                </a:moveTo>
                <a:lnTo>
                  <a:pt x="4091341" y="0"/>
                </a:lnTo>
                <a:lnTo>
                  <a:pt x="4091341" y="4309131"/>
                </a:lnTo>
                <a:lnTo>
                  <a:pt x="0" y="43091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0750" y="5546329"/>
            <a:ext cx="6472879" cy="3304936"/>
          </a:xfrm>
          <a:custGeom>
            <a:avLst/>
            <a:gdLst/>
            <a:ahLst/>
            <a:cxnLst/>
            <a:rect r="r" b="b" t="t" l="l"/>
            <a:pathLst>
              <a:path h="3304936" w="6472879">
                <a:moveTo>
                  <a:pt x="0" y="0"/>
                </a:moveTo>
                <a:lnTo>
                  <a:pt x="6472879" y="0"/>
                </a:lnTo>
                <a:lnTo>
                  <a:pt x="6472879" y="3304936"/>
                </a:lnTo>
                <a:lnTo>
                  <a:pt x="0" y="33049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43578" y="933450"/>
            <a:ext cx="960084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ĐƠN VỊ, TÍCH HỢP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63564"/>
            <a:ext cx="15669518" cy="36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đơn vị &amp; tích hợp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Unit Test: Kiểm tra từng hàm/service riêng lẻ: Jest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Integration Test: Kiểm tra toàn bộ luồng (route → middleware → service → database)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Jest + Supertest</a:t>
            </a:r>
          </a:p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Mục tiêu: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Phát hiện lỗi sớm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Đảm bảo module hoạt động đúng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19946" y="2197003"/>
            <a:ext cx="6639354" cy="2794062"/>
          </a:xfrm>
          <a:custGeom>
            <a:avLst/>
            <a:gdLst/>
            <a:ahLst/>
            <a:cxnLst/>
            <a:rect r="r" b="b" t="t" l="l"/>
            <a:pathLst>
              <a:path h="2794062" w="6639354">
                <a:moveTo>
                  <a:pt x="0" y="0"/>
                </a:moveTo>
                <a:lnTo>
                  <a:pt x="6639354" y="0"/>
                </a:lnTo>
                <a:lnTo>
                  <a:pt x="6639354" y="2794061"/>
                </a:lnTo>
                <a:lnTo>
                  <a:pt x="0" y="2794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22627" y="933450"/>
            <a:ext cx="744274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TỰ ĐỘNG CI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305" y="2139853"/>
            <a:ext cx="7752159" cy="222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tự động CI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Tự động chạy test khi push code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Ngăn deploy khi test thất bại</a:t>
            </a:r>
          </a:p>
          <a:p>
            <a:pPr algn="l" marL="690874" indent="-345437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Giảm lỗi trên môi trường production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336481"/>
            <a:ext cx="11196019" cy="419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7"/>
              </a:lnSpc>
              <a:spcBef>
                <a:spcPct val="0"/>
              </a:spcBef>
            </a:pPr>
            <a:r>
              <a:rPr lang="en-US" b="true" sz="30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chức năng (Unit, Integration, System, Acceptance)</a:t>
            </a:r>
          </a:p>
          <a:p>
            <a:pPr algn="l">
              <a:lnSpc>
                <a:spcPts val="4207"/>
              </a:lnSpc>
              <a:spcBef>
                <a:spcPct val="0"/>
              </a:spcBef>
            </a:pPr>
            <a:r>
              <a:rPr lang="en-US" b="true" sz="30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tự động:</a:t>
            </a:r>
          </a:p>
          <a:p>
            <a:pPr algn="l" marL="648835" indent="-324417" lvl="1">
              <a:lnSpc>
                <a:spcPts val="4207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Unit / Integration test</a:t>
            </a:r>
          </a:p>
          <a:p>
            <a:pPr algn="l" marL="648835" indent="-324417" lvl="1">
              <a:lnSpc>
                <a:spcPts val="4207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UI Automation (Selenium)</a:t>
            </a:r>
          </a:p>
          <a:p>
            <a:pPr algn="l">
              <a:lnSpc>
                <a:spcPts val="4207"/>
              </a:lnSpc>
              <a:spcBef>
                <a:spcPct val="0"/>
              </a:spcBef>
            </a:pPr>
            <a:r>
              <a:rPr lang="en-US" b="true" sz="30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Kiểm thử phi chức năng:</a:t>
            </a:r>
          </a:p>
          <a:p>
            <a:pPr algn="l" marL="648835" indent="-324417" lvl="1">
              <a:lnSpc>
                <a:spcPts val="4207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Load Test</a:t>
            </a:r>
          </a:p>
          <a:p>
            <a:pPr algn="l" marL="648835" indent="-324417" lvl="1">
              <a:lnSpc>
                <a:spcPts val="4207"/>
              </a:lnSpc>
              <a:buFont typeface="Arial"/>
              <a:buChar char="•"/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Stress Test</a:t>
            </a:r>
          </a:p>
          <a:p>
            <a:pPr algn="l">
              <a:lnSpc>
                <a:spcPts val="4207"/>
              </a:lnSpc>
              <a:spcBef>
                <a:spcPct val="0"/>
              </a:spcBef>
            </a:pPr>
            <a:r>
              <a:rPr lang="en-US" b="true" sz="300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Tích hợp CI/CD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1605"/>
            <a:ext cx="759089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4. Kết quả đạt được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79586" y="1387155"/>
            <a:ext cx="5959316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Quá trình thực thi kiểm thử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586919"/>
            <a:ext cx="9590366" cy="5532383"/>
          </a:xfrm>
          <a:custGeom>
            <a:avLst/>
            <a:gdLst/>
            <a:ahLst/>
            <a:cxnLst/>
            <a:rect r="r" b="b" t="t" l="l"/>
            <a:pathLst>
              <a:path h="5532383" w="9590366">
                <a:moveTo>
                  <a:pt x="0" y="0"/>
                </a:moveTo>
                <a:lnTo>
                  <a:pt x="9590366" y="0"/>
                </a:lnTo>
                <a:lnTo>
                  <a:pt x="9590366" y="5532383"/>
                </a:lnTo>
                <a:lnTo>
                  <a:pt x="0" y="5532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26690" y="1103433"/>
            <a:ext cx="5227439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Báo Cáo Kiểm Thử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0568" y="2901517"/>
            <a:ext cx="4868466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Kết quả thực thi Test Case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Tổng số Test Case: 34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Passed: 33 (97.1%)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Failed: 1 (2.9%)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Blocked / Not run: 0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80568" y="5712721"/>
            <a:ext cx="635575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Phạm vi bao phủ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Chức năng: 100%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Phi chức năng: Đã thực hiện Load Test, Stress Test, UI Automation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66676" y="1662977"/>
            <a:ext cx="5713009" cy="5155173"/>
          </a:xfrm>
          <a:custGeom>
            <a:avLst/>
            <a:gdLst/>
            <a:ahLst/>
            <a:cxnLst/>
            <a:rect r="r" b="b" t="t" l="l"/>
            <a:pathLst>
              <a:path h="5155173" w="5713009">
                <a:moveTo>
                  <a:pt x="0" y="0"/>
                </a:moveTo>
                <a:lnTo>
                  <a:pt x="5713008" y="0"/>
                </a:lnTo>
                <a:lnTo>
                  <a:pt x="5713008" y="5155172"/>
                </a:lnTo>
                <a:lnTo>
                  <a:pt x="0" y="5155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31722" y="250190"/>
            <a:ext cx="6615946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Báo Cáo Lỗi &amp; Đánh Giá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04451" y="1227865"/>
            <a:ext cx="547241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Báo cáo lỗi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Tổng lỗi Test Case: 1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Không có lỗi Medium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 lỗi Low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Không có lỗi High / Critical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1026958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 Kết luận &amp; Hướng phát triển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83042"/>
            <a:ext cx="10789564" cy="3638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Kết luận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Xây dựng quy trình kiểm thử hoàn chỉnh cho Web TMĐT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Áp dụng V-Model xuyên suốt vòng đời phát triển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Thực hiện kiểm thử chức năng &amp; phi chức năng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Tự động hóa kiểm thử với Selenium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Tích hợp kiểm thử vào CI/CD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Hệ thống đáp ứng yêu cầu triển khai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65080" y="6143624"/>
            <a:ext cx="9641800" cy="3114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Hướng phát triển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Mở rộng kiểm thử phi chức năng toàn diện hơn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Bổ sung kiểm thử bảo mật chuyên sâu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Mở rộng phạm vi tự động hóa Selenium (E2E)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Tối ưu kịch bản Load / Stress Test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Ứng dụng GenAI trong thiết kế &amp; review Test Case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41988" y="4340457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915351" y="4340457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359021"/>
            <a:ext cx="8421405" cy="313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CẢM ƠN ĐÃ </a:t>
            </a:r>
          </a:p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LẮNG NGHE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DAG7qab7H0o</dc:identifier>
  <dcterms:modified xsi:type="dcterms:W3CDTF">2011-08-01T06:04:30Z</dcterms:modified>
  <cp:revision>1</cp:revision>
  <dc:title>KiemThuPhanMem_Slide</dc:title>
</cp:coreProperties>
</file>