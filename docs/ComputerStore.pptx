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League Spartan" charset="1" panose="00000800000000000000"/>
      <p:regular r:id="rId27"/>
    </p:embeddedFont>
    <p:embeddedFont>
      <p:font typeface="Poppins" charset="1" panose="00000500000000000000"/>
      <p:regular r:id="rId28"/>
    </p:embeddedFont>
    <p:embeddedFont>
      <p:font typeface="Canva Sans" charset="1" panose="020B0503030501040103"/>
      <p:regular r:id="rId29"/>
    </p:embeddedFon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875281" y="2501522"/>
            <a:ext cx="17052560" cy="3047600"/>
          </a:xfrm>
          <a:prstGeom prst="rect">
            <a:avLst/>
          </a:prstGeom>
        </p:spPr>
        <p:txBody>
          <a:bodyPr anchor="t" rtlCol="false" tIns="0" lIns="0" bIns="0" rIns="0">
            <a:spAutoFit/>
          </a:bodyPr>
          <a:lstStyle/>
          <a:p>
            <a:pPr algn="ctr">
              <a:lnSpc>
                <a:spcPts val="11571"/>
              </a:lnSpc>
            </a:pPr>
            <a:r>
              <a:rPr lang="en-US" b="true" sz="8265">
                <a:solidFill>
                  <a:srgbClr val="FF66C4"/>
                </a:solidFill>
                <a:latin typeface="League Spartan"/>
                <a:ea typeface="League Spartan"/>
                <a:cs typeface="League Spartan"/>
                <a:sym typeface="League Spartan"/>
              </a:rPr>
              <a:t>KIỂM THỬ WEBSITE BÁN MÁY TÍNH</a:t>
            </a:r>
          </a:p>
        </p:txBody>
      </p:sp>
      <p:sp>
        <p:nvSpPr>
          <p:cNvPr name="TextBox 5" id="5"/>
          <p:cNvSpPr txBox="true"/>
          <p:nvPr/>
        </p:nvSpPr>
        <p:spPr>
          <a:xfrm rot="0">
            <a:off x="4880591" y="7747816"/>
            <a:ext cx="8526828" cy="1090927"/>
          </a:xfrm>
          <a:prstGeom prst="rect">
            <a:avLst/>
          </a:prstGeom>
        </p:spPr>
        <p:txBody>
          <a:bodyPr anchor="t" rtlCol="false" tIns="0" lIns="0" bIns="0" rIns="0">
            <a:spAutoFit/>
          </a:bodyPr>
          <a:lstStyle/>
          <a:p>
            <a:pPr algn="ctr">
              <a:lnSpc>
                <a:spcPts val="3919"/>
              </a:lnSpc>
            </a:pPr>
            <a:r>
              <a:rPr lang="en-US" sz="2799">
                <a:solidFill>
                  <a:srgbClr val="303642"/>
                </a:solidFill>
                <a:latin typeface="Poppins"/>
                <a:ea typeface="Poppins"/>
                <a:cs typeface="Poppins"/>
                <a:sym typeface="Poppins"/>
              </a:rPr>
              <a:t>Thành viên nhóm</a:t>
            </a:r>
          </a:p>
          <a:p>
            <a:pPr algn="ctr">
              <a:lnSpc>
                <a:spcPts val="3919"/>
              </a:lnSpc>
            </a:pPr>
            <a:r>
              <a:rPr lang="en-US" sz="2799">
                <a:solidFill>
                  <a:srgbClr val="303642"/>
                </a:solidFill>
                <a:latin typeface="Poppins"/>
                <a:ea typeface="Poppins"/>
                <a:cs typeface="Poppins"/>
                <a:sym typeface="Poppins"/>
              </a:rPr>
              <a:t>Huỳnh Lê Hoàng Tuấn - 3122411233</a:t>
            </a:r>
          </a:p>
        </p:txBody>
      </p:sp>
      <p:sp>
        <p:nvSpPr>
          <p:cNvPr name="TextBox 6" id="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783401" y="932593"/>
            <a:ext cx="1153249" cy="984056"/>
          </a:xfrm>
          <a:custGeom>
            <a:avLst/>
            <a:gdLst/>
            <a:ahLst/>
            <a:cxnLst/>
            <a:rect r="r" b="b" t="t" l="l"/>
            <a:pathLst>
              <a:path h="984056" w="1153249">
                <a:moveTo>
                  <a:pt x="0" y="0"/>
                </a:moveTo>
                <a:lnTo>
                  <a:pt x="1153249" y="0"/>
                </a:lnTo>
                <a:lnTo>
                  <a:pt x="1153249" y="984056"/>
                </a:lnTo>
                <a:lnTo>
                  <a:pt x="0" y="984056"/>
                </a:lnTo>
                <a:lnTo>
                  <a:pt x="0" y="0"/>
                </a:lnTo>
                <a:close/>
              </a:path>
            </a:pathLst>
          </a:custGeom>
          <a:blipFill>
            <a:blip r:embed="rId2"/>
            <a:stretch>
              <a:fillRect l="0" t="-296" r="0" b="-295"/>
            </a:stretch>
          </a:blipFill>
        </p:spPr>
      </p:sp>
      <p:grpSp>
        <p:nvGrpSpPr>
          <p:cNvPr name="Group 3" id="3"/>
          <p:cNvGrpSpPr/>
          <p:nvPr/>
        </p:nvGrpSpPr>
        <p:grpSpPr>
          <a:xfrm rot="0">
            <a:off x="5358632" y="4962925"/>
            <a:ext cx="6963832" cy="4062946"/>
            <a:chOff x="0" y="0"/>
            <a:chExt cx="9285110" cy="5417261"/>
          </a:xfrm>
        </p:grpSpPr>
        <p:sp>
          <p:nvSpPr>
            <p:cNvPr name="Freeform 4" id="4"/>
            <p:cNvSpPr/>
            <p:nvPr/>
          </p:nvSpPr>
          <p:spPr>
            <a:xfrm flipH="false" flipV="false" rot="0">
              <a:off x="0" y="0"/>
              <a:ext cx="9285097" cy="5417312"/>
            </a:xfrm>
            <a:custGeom>
              <a:avLst/>
              <a:gdLst/>
              <a:ahLst/>
              <a:cxnLst/>
              <a:rect r="r" b="b" t="t" l="l"/>
              <a:pathLst>
                <a:path h="5417312" w="9285097">
                  <a:moveTo>
                    <a:pt x="0" y="0"/>
                  </a:moveTo>
                  <a:lnTo>
                    <a:pt x="9285097" y="0"/>
                  </a:lnTo>
                  <a:lnTo>
                    <a:pt x="9285097" y="5417312"/>
                  </a:lnTo>
                  <a:lnTo>
                    <a:pt x="0" y="5417312"/>
                  </a:lnTo>
                  <a:lnTo>
                    <a:pt x="0" y="0"/>
                  </a:lnTo>
                  <a:close/>
                </a:path>
              </a:pathLst>
            </a:custGeom>
            <a:blipFill>
              <a:blip r:embed="rId3"/>
              <a:stretch>
                <a:fillRect l="-2051" t="0" r="-2051" b="0"/>
              </a:stretch>
            </a:blipFill>
          </p:spPr>
        </p:sp>
      </p:grpSp>
      <p:sp>
        <p:nvSpPr>
          <p:cNvPr name="TextBox 5" id="5"/>
          <p:cNvSpPr txBox="true"/>
          <p:nvPr/>
        </p:nvSpPr>
        <p:spPr>
          <a:xfrm rot="0">
            <a:off x="1028700" y="838200"/>
            <a:ext cx="6519624" cy="982342"/>
          </a:xfrm>
          <a:prstGeom prst="rect">
            <a:avLst/>
          </a:prstGeom>
        </p:spPr>
        <p:txBody>
          <a:bodyPr anchor="t" rtlCol="false" tIns="0" lIns="0" bIns="0" rIns="0">
            <a:spAutoFit/>
          </a:bodyPr>
          <a:lstStyle/>
          <a:p>
            <a:pPr algn="ctr" marL="1188598" indent="-396199" lvl="2">
              <a:lnSpc>
                <a:spcPts val="7278"/>
              </a:lnSpc>
              <a:buAutoNum type="arabicPeriod" startAt="1"/>
            </a:pPr>
            <a:r>
              <a:rPr lang="en-US" b="true" sz="5198">
                <a:solidFill>
                  <a:srgbClr val="000000"/>
                </a:solidFill>
                <a:latin typeface="Canva Sans Bold"/>
                <a:ea typeface="Canva Sans Bold"/>
                <a:cs typeface="Canva Sans Bold"/>
                <a:sym typeface="Canva Sans Bold"/>
              </a:rPr>
              <a:t>Giới Thiệu Đề Tài</a:t>
            </a:r>
          </a:p>
        </p:txBody>
      </p:sp>
      <p:sp>
        <p:nvSpPr>
          <p:cNvPr name="TextBox 6" id="6"/>
          <p:cNvSpPr txBox="true"/>
          <p:nvPr/>
        </p:nvSpPr>
        <p:spPr>
          <a:xfrm rot="0">
            <a:off x="1291723" y="2554976"/>
            <a:ext cx="9911067" cy="2165347"/>
          </a:xfrm>
          <a:prstGeom prst="rect">
            <a:avLst/>
          </a:prstGeom>
        </p:spPr>
        <p:txBody>
          <a:bodyPr anchor="t" rtlCol="false" tIns="0" lIns="0" bIns="0" rIns="0">
            <a:spAutoFit/>
          </a:bodyPr>
          <a:lstStyle/>
          <a:p>
            <a:pPr algn="l">
              <a:lnSpc>
                <a:spcPts val="5598"/>
              </a:lnSpc>
            </a:pPr>
            <a:r>
              <a:rPr lang="en-US" sz="3999">
                <a:solidFill>
                  <a:srgbClr val="000000"/>
                </a:solidFill>
                <a:latin typeface="Canva Sans"/>
                <a:ea typeface="Canva Sans"/>
                <a:cs typeface="Canva Sans"/>
                <a:sym typeface="Canva Sans"/>
              </a:rPr>
              <a:t>Kiểm thử Website </a:t>
            </a:r>
          </a:p>
          <a:p>
            <a:pPr algn="l" marL="914278" indent="-304759" lvl="2">
              <a:lnSpc>
                <a:spcPts val="5598"/>
              </a:lnSpc>
              <a:buFont typeface="Arial"/>
              <a:buChar char="⚬"/>
            </a:pPr>
            <a:r>
              <a:rPr lang="en-US" sz="3999">
                <a:solidFill>
                  <a:srgbClr val="000000"/>
                </a:solidFill>
                <a:latin typeface="Canva Sans"/>
                <a:ea typeface="Canva Sans"/>
                <a:cs typeface="Canva Sans"/>
                <a:sym typeface="Canva Sans"/>
              </a:rPr>
              <a:t>Đối tượng: Website Computer Store</a:t>
            </a:r>
          </a:p>
          <a:p>
            <a:pPr algn="l" marL="914278" indent="-304759" lvl="2">
              <a:lnSpc>
                <a:spcPts val="5598"/>
              </a:lnSpc>
            </a:pPr>
          </a:p>
        </p:txBody>
      </p:sp>
      <p:sp>
        <p:nvSpPr>
          <p:cNvPr name="TextBox 7" id="7"/>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971572" y="5729945"/>
            <a:ext cx="5287728" cy="3528355"/>
            <a:chOff x="0" y="0"/>
            <a:chExt cx="7050303" cy="4704474"/>
          </a:xfrm>
        </p:grpSpPr>
        <p:sp>
          <p:nvSpPr>
            <p:cNvPr name="Freeform 3" id="3"/>
            <p:cNvSpPr/>
            <p:nvPr/>
          </p:nvSpPr>
          <p:spPr>
            <a:xfrm flipH="false" flipV="false" rot="0">
              <a:off x="0" y="0"/>
              <a:ext cx="7050278" cy="4704461"/>
            </a:xfrm>
            <a:custGeom>
              <a:avLst/>
              <a:gdLst/>
              <a:ahLst/>
              <a:cxnLst/>
              <a:rect r="r" b="b" t="t" l="l"/>
              <a:pathLst>
                <a:path h="4704461" w="7050278">
                  <a:moveTo>
                    <a:pt x="0" y="0"/>
                  </a:moveTo>
                  <a:lnTo>
                    <a:pt x="7050278" y="0"/>
                  </a:lnTo>
                  <a:lnTo>
                    <a:pt x="7050278" y="4704461"/>
                  </a:lnTo>
                  <a:lnTo>
                    <a:pt x="0" y="4704461"/>
                  </a:lnTo>
                  <a:lnTo>
                    <a:pt x="0" y="0"/>
                  </a:lnTo>
                  <a:close/>
                </a:path>
              </a:pathLst>
            </a:custGeom>
            <a:blipFill>
              <a:blip r:embed="rId2"/>
              <a:stretch>
                <a:fillRect l="-26" t="0" r="-26" b="0"/>
              </a:stretch>
            </a:blipFill>
          </p:spPr>
        </p:sp>
      </p:grpSp>
      <p:sp>
        <p:nvSpPr>
          <p:cNvPr name="Freeform 4" id="4"/>
          <p:cNvSpPr/>
          <p:nvPr/>
        </p:nvSpPr>
        <p:spPr>
          <a:xfrm flipH="false" flipV="false" rot="0">
            <a:off x="15855401" y="5729945"/>
            <a:ext cx="1152830" cy="1161278"/>
          </a:xfrm>
          <a:custGeom>
            <a:avLst/>
            <a:gdLst/>
            <a:ahLst/>
            <a:cxnLst/>
            <a:rect r="r" b="b" t="t" l="l"/>
            <a:pathLst>
              <a:path h="1161278" w="1152830">
                <a:moveTo>
                  <a:pt x="0" y="0"/>
                </a:moveTo>
                <a:lnTo>
                  <a:pt x="1152830" y="0"/>
                </a:lnTo>
                <a:lnTo>
                  <a:pt x="1152830" y="1161278"/>
                </a:lnTo>
                <a:lnTo>
                  <a:pt x="0" y="1161278"/>
                </a:lnTo>
                <a:lnTo>
                  <a:pt x="0" y="0"/>
                </a:lnTo>
                <a:close/>
              </a:path>
            </a:pathLst>
          </a:custGeom>
          <a:blipFill>
            <a:blip r:embed="rId3">
              <a:extLst>
                <a:ext uri="{96DAC541-7B7A-43D3-8B79-37D633B846F1}">
                  <asvg:svgBlip xmlns:asvg="http://schemas.microsoft.com/office/drawing/2016/SVG/main" r:embed="rId4"/>
                </a:ext>
              </a:extLst>
            </a:blip>
            <a:stretch>
              <a:fillRect l="0" t="-43" r="0" b="-43"/>
            </a:stretch>
          </a:blipFill>
        </p:spPr>
      </p:sp>
      <p:sp>
        <p:nvSpPr>
          <p:cNvPr name="TextBox 5" id="5"/>
          <p:cNvSpPr txBox="true"/>
          <p:nvPr/>
        </p:nvSpPr>
        <p:spPr>
          <a:xfrm rot="0">
            <a:off x="1028700" y="3024645"/>
            <a:ext cx="15732566" cy="2870197"/>
          </a:xfrm>
          <a:prstGeom prst="rect">
            <a:avLst/>
          </a:prstGeom>
        </p:spPr>
        <p:txBody>
          <a:bodyPr anchor="t" rtlCol="false" tIns="0" lIns="0" bIns="0" rIns="0">
            <a:spAutoFit/>
          </a:bodyPr>
          <a:lstStyle/>
          <a:p>
            <a:pPr algn="l">
              <a:lnSpc>
                <a:spcPts val="5598"/>
              </a:lnSpc>
            </a:pPr>
            <a:r>
              <a:rPr lang="en-US" sz="3999">
                <a:solidFill>
                  <a:srgbClr val="000000"/>
                </a:solidFill>
                <a:latin typeface="Canva Sans"/>
                <a:ea typeface="Canva Sans"/>
                <a:cs typeface="Canva Sans"/>
                <a:sym typeface="Canva Sans"/>
              </a:rPr>
              <a:t>Thách thức trong kiểm thử Web TMĐT</a:t>
            </a:r>
          </a:p>
          <a:p>
            <a:pPr algn="l" marL="914278" indent="-304759" lvl="2">
              <a:lnSpc>
                <a:spcPts val="5598"/>
              </a:lnSpc>
              <a:buFont typeface="Arial"/>
              <a:buChar char="⚬"/>
            </a:pPr>
            <a:r>
              <a:rPr lang="en-US" sz="3999">
                <a:solidFill>
                  <a:srgbClr val="000000"/>
                </a:solidFill>
                <a:latin typeface="Canva Sans"/>
                <a:ea typeface="Canva Sans"/>
                <a:cs typeface="Canva Sans"/>
                <a:sym typeface="Canva Sans"/>
              </a:rPr>
              <a:t>Kiến thức còn hạn chế</a:t>
            </a:r>
          </a:p>
          <a:p>
            <a:pPr algn="l" marL="914278" indent="-304759" lvl="2">
              <a:lnSpc>
                <a:spcPts val="5598"/>
              </a:lnSpc>
              <a:buFont typeface="Arial"/>
              <a:buChar char="⚬"/>
            </a:pPr>
            <a:r>
              <a:rPr lang="en-US" sz="3999">
                <a:solidFill>
                  <a:srgbClr val="000000"/>
                </a:solidFill>
                <a:latin typeface="Canva Sans"/>
                <a:ea typeface="Canva Sans"/>
                <a:cs typeface="Canva Sans"/>
                <a:sym typeface="Canva Sans"/>
              </a:rPr>
              <a:t>Nhiều nghiệp vụ phức tạp (giỏ hàng, thanh toán, phân quyền)</a:t>
            </a:r>
          </a:p>
          <a:p>
            <a:pPr algn="l" marL="914278" indent="-304759" lvl="2">
              <a:lnSpc>
                <a:spcPts val="5598"/>
              </a:lnSpc>
              <a:buFont typeface="Arial"/>
              <a:buChar char="⚬"/>
            </a:pPr>
            <a:r>
              <a:rPr lang="en-US" sz="3999">
                <a:solidFill>
                  <a:srgbClr val="000000"/>
                </a:solidFill>
                <a:latin typeface="Canva Sans"/>
                <a:ea typeface="Canva Sans"/>
                <a:cs typeface="Canva Sans"/>
                <a:sym typeface="Canva Sans"/>
              </a:rPr>
              <a:t>Tích hợp hệ thống bên thứ ba (Momo)</a:t>
            </a:r>
          </a:p>
        </p:txBody>
      </p:sp>
      <p:sp>
        <p:nvSpPr>
          <p:cNvPr name="TextBox 6" id="6"/>
          <p:cNvSpPr txBox="true"/>
          <p:nvPr/>
        </p:nvSpPr>
        <p:spPr>
          <a:xfrm rot="0">
            <a:off x="1028700" y="1619117"/>
            <a:ext cx="7421042"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Khó khăn &amp; Thách thức</a:t>
            </a:r>
          </a:p>
        </p:txBody>
      </p:sp>
      <p:sp>
        <p:nvSpPr>
          <p:cNvPr name="TextBox 7" id="7"/>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982099" y="4887506"/>
            <a:ext cx="3336731" cy="4114800"/>
          </a:xfrm>
          <a:custGeom>
            <a:avLst/>
            <a:gdLst/>
            <a:ahLst/>
            <a:cxnLst/>
            <a:rect r="r" b="b" t="t" l="l"/>
            <a:pathLst>
              <a:path h="4114800" w="3336731">
                <a:moveTo>
                  <a:pt x="0" y="0"/>
                </a:moveTo>
                <a:lnTo>
                  <a:pt x="3336731" y="0"/>
                </a:lnTo>
                <a:lnTo>
                  <a:pt x="33367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17" r="0" b="-17"/>
            </a:stretch>
          </a:blipFill>
        </p:spPr>
      </p:sp>
      <p:sp>
        <p:nvSpPr>
          <p:cNvPr name="TextBox 3" id="3"/>
          <p:cNvSpPr txBox="true"/>
          <p:nvPr/>
        </p:nvSpPr>
        <p:spPr>
          <a:xfrm rot="0">
            <a:off x="2225878" y="3376203"/>
            <a:ext cx="12913966" cy="2870197"/>
          </a:xfrm>
          <a:prstGeom prst="rect">
            <a:avLst/>
          </a:prstGeom>
        </p:spPr>
        <p:txBody>
          <a:bodyPr anchor="t" rtlCol="false" tIns="0" lIns="0" bIns="0" rIns="0">
            <a:spAutoFit/>
          </a:bodyPr>
          <a:lstStyle/>
          <a:p>
            <a:pPr algn="just" marL="914278" indent="-304759" lvl="2">
              <a:lnSpc>
                <a:spcPts val="5598"/>
              </a:lnSpc>
              <a:buFont typeface="Arial"/>
              <a:buChar char="⚬"/>
            </a:pPr>
            <a:r>
              <a:rPr lang="en-US" sz="3999">
                <a:solidFill>
                  <a:srgbClr val="000000"/>
                </a:solidFill>
                <a:latin typeface="Canva Sans"/>
                <a:ea typeface="Canva Sans"/>
                <a:cs typeface="Canva Sans"/>
                <a:sym typeface="Canva Sans"/>
              </a:rPr>
              <a:t>Xây dựng kế hoạch kiểm thử đầy đủ theo V-Model</a:t>
            </a:r>
          </a:p>
          <a:p>
            <a:pPr algn="just" marL="914278" indent="-304759" lvl="2">
              <a:lnSpc>
                <a:spcPts val="5598"/>
              </a:lnSpc>
              <a:buFont typeface="Arial"/>
              <a:buChar char="⚬"/>
            </a:pPr>
            <a:r>
              <a:rPr lang="en-US" sz="3999">
                <a:solidFill>
                  <a:srgbClr val="000000"/>
                </a:solidFill>
                <a:latin typeface="Canva Sans"/>
                <a:ea typeface="Canva Sans"/>
                <a:cs typeface="Canva Sans"/>
                <a:sym typeface="Canva Sans"/>
              </a:rPr>
              <a:t>Kết hợp kiểm thử thủ công &amp; tự động</a:t>
            </a:r>
          </a:p>
          <a:p>
            <a:pPr algn="just" marL="914278" indent="-304759" lvl="2">
              <a:lnSpc>
                <a:spcPts val="5598"/>
              </a:lnSpc>
              <a:buFont typeface="Arial"/>
              <a:buChar char="⚬"/>
            </a:pPr>
            <a:r>
              <a:rPr lang="en-US" sz="3999">
                <a:solidFill>
                  <a:srgbClr val="000000"/>
                </a:solidFill>
                <a:latin typeface="Canva Sans"/>
                <a:ea typeface="Canva Sans"/>
                <a:cs typeface="Canva Sans"/>
                <a:sym typeface="Canva Sans"/>
              </a:rPr>
              <a:t>Áp dụng kiểm thử ở nhiều cấp độ</a:t>
            </a:r>
          </a:p>
          <a:p>
            <a:pPr algn="just" marL="914278" indent="-304759" lvl="2">
              <a:lnSpc>
                <a:spcPts val="5598"/>
              </a:lnSpc>
              <a:buFont typeface="Arial"/>
              <a:buChar char="⚬"/>
            </a:pPr>
            <a:r>
              <a:rPr lang="en-US" sz="3999">
                <a:solidFill>
                  <a:srgbClr val="000000"/>
                </a:solidFill>
                <a:latin typeface="Canva Sans"/>
                <a:ea typeface="Canva Sans"/>
                <a:cs typeface="Canva Sans"/>
                <a:sym typeface="Canva Sans"/>
              </a:rPr>
              <a:t>Tích hợp kiểm thử vào CI</a:t>
            </a:r>
          </a:p>
        </p:txBody>
      </p:sp>
      <p:sp>
        <p:nvSpPr>
          <p:cNvPr name="TextBox 4" id="4"/>
          <p:cNvSpPr txBox="true"/>
          <p:nvPr/>
        </p:nvSpPr>
        <p:spPr>
          <a:xfrm rot="0">
            <a:off x="4758690" y="1506512"/>
            <a:ext cx="8770620"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Hướng tiếp cận &amp; đóng góp</a:t>
            </a:r>
          </a:p>
        </p:txBody>
      </p:sp>
      <p:sp>
        <p:nvSpPr>
          <p:cNvPr name="TextBox 5" id="5"/>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6358"/>
            <a:ext cx="7199233"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2.  Kế Hoạch Kiểm Thử</a:t>
            </a:r>
          </a:p>
        </p:txBody>
      </p:sp>
      <p:sp>
        <p:nvSpPr>
          <p:cNvPr name="TextBox 3" id="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5</a:t>
            </a:r>
          </a:p>
        </p:txBody>
      </p:sp>
      <p:sp>
        <p:nvSpPr>
          <p:cNvPr name="TextBox 4" id="4"/>
          <p:cNvSpPr txBox="true"/>
          <p:nvPr/>
        </p:nvSpPr>
        <p:spPr>
          <a:xfrm rot="0">
            <a:off x="3644856" y="838200"/>
            <a:ext cx="10998279"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Quy Trình Kiểm Thử Theo V-Modal</a:t>
            </a:r>
          </a:p>
        </p:txBody>
      </p:sp>
      <p:sp>
        <p:nvSpPr>
          <p:cNvPr name="TextBox 5" id="5"/>
          <p:cNvSpPr txBox="true"/>
          <p:nvPr/>
        </p:nvSpPr>
        <p:spPr>
          <a:xfrm rot="0">
            <a:off x="1028700" y="2068039"/>
            <a:ext cx="8668769" cy="2447287"/>
          </a:xfrm>
          <a:prstGeom prst="rect">
            <a:avLst/>
          </a:prstGeom>
        </p:spPr>
        <p:txBody>
          <a:bodyPr anchor="t" rtlCol="false" tIns="0" lIns="0" bIns="0" rIns="0">
            <a:spAutoFit/>
          </a:bodyPr>
          <a:lstStyle/>
          <a:p>
            <a:pPr algn="l" marL="777116" indent="-259039" lvl="2">
              <a:lnSpc>
                <a:spcPts val="4759"/>
              </a:lnSpc>
              <a:buFont typeface="Arial"/>
              <a:buChar char="⚬"/>
            </a:pPr>
            <a:r>
              <a:rPr lang="en-US" sz="3399">
                <a:solidFill>
                  <a:srgbClr val="000000"/>
                </a:solidFill>
                <a:latin typeface="Canva Sans"/>
                <a:ea typeface="Canva Sans"/>
                <a:cs typeface="Canva Sans"/>
                <a:sym typeface="Canva Sans"/>
              </a:rPr>
              <a:t>Yêu cầu ↔ Kiểm thử chấp nhận</a:t>
            </a:r>
          </a:p>
          <a:p>
            <a:pPr algn="l" marL="777116" indent="-259039" lvl="2">
              <a:lnSpc>
                <a:spcPts val="4759"/>
              </a:lnSpc>
              <a:buFont typeface="Arial"/>
              <a:buChar char="⚬"/>
            </a:pPr>
            <a:r>
              <a:rPr lang="en-US" sz="3399">
                <a:solidFill>
                  <a:srgbClr val="000000"/>
                </a:solidFill>
                <a:latin typeface="Canva Sans"/>
                <a:ea typeface="Canva Sans"/>
                <a:cs typeface="Canva Sans"/>
                <a:sym typeface="Canva Sans"/>
              </a:rPr>
              <a:t>Thiết kế hệ thống ↔ Kiểm thử hệ thống</a:t>
            </a:r>
          </a:p>
          <a:p>
            <a:pPr algn="l" marL="777116" indent="-259039" lvl="2">
              <a:lnSpc>
                <a:spcPts val="4759"/>
              </a:lnSpc>
              <a:buFont typeface="Arial"/>
              <a:buChar char="⚬"/>
            </a:pPr>
            <a:r>
              <a:rPr lang="en-US" sz="3399">
                <a:solidFill>
                  <a:srgbClr val="000000"/>
                </a:solidFill>
                <a:latin typeface="Canva Sans"/>
                <a:ea typeface="Canva Sans"/>
                <a:cs typeface="Canva Sans"/>
                <a:sym typeface="Canva Sans"/>
              </a:rPr>
              <a:t>Thiết kế kiến trúc ↔ Kiểm thử tích hợp</a:t>
            </a:r>
          </a:p>
          <a:p>
            <a:pPr algn="l" marL="777116" indent="-259039" lvl="2">
              <a:lnSpc>
                <a:spcPts val="4759"/>
              </a:lnSpc>
              <a:buFont typeface="Arial"/>
              <a:buChar char="⚬"/>
            </a:pPr>
            <a:r>
              <a:rPr lang="en-US" sz="3399">
                <a:solidFill>
                  <a:srgbClr val="000000"/>
                </a:solidFill>
                <a:latin typeface="Canva Sans"/>
                <a:ea typeface="Canva Sans"/>
                <a:cs typeface="Canva Sans"/>
                <a:sym typeface="Canva Sans"/>
              </a:rPr>
              <a:t>Thiết kế module ↔ Kiểm thử đơn vị</a:t>
            </a:r>
          </a:p>
        </p:txBody>
      </p:sp>
      <p:sp>
        <p:nvSpPr>
          <p:cNvPr name="TextBox 6" id="6"/>
          <p:cNvSpPr txBox="true"/>
          <p:nvPr/>
        </p:nvSpPr>
        <p:spPr>
          <a:xfrm rot="0">
            <a:off x="1525248" y="4603842"/>
            <a:ext cx="3576342" cy="3283582"/>
          </a:xfrm>
          <a:prstGeom prst="rect">
            <a:avLst/>
          </a:prstGeom>
        </p:spPr>
        <p:txBody>
          <a:bodyPr anchor="t" rtlCol="false" tIns="0" lIns="0" bIns="0" rIns="0">
            <a:spAutoFit/>
          </a:bodyPr>
          <a:lstStyle/>
          <a:p>
            <a:pPr algn="l">
              <a:lnSpc>
                <a:spcPts val="4339"/>
              </a:lnSpc>
            </a:pPr>
            <a:r>
              <a:rPr lang="en-US" sz="3099" b="true">
                <a:solidFill>
                  <a:srgbClr val="000000"/>
                </a:solidFill>
                <a:latin typeface="Canva Sans Bold"/>
                <a:ea typeface="Canva Sans Bold"/>
                <a:cs typeface="Canva Sans Bold"/>
                <a:sym typeface="Canva Sans Bold"/>
              </a:rPr>
              <a:t>Phân tích yêu cầu</a:t>
            </a:r>
          </a:p>
          <a:p>
            <a:pPr algn="l" marL="708537" indent="-236179" lvl="2">
              <a:lnSpc>
                <a:spcPts val="4339"/>
              </a:lnSpc>
              <a:buFont typeface="Arial"/>
              <a:buChar char="⚬"/>
            </a:pPr>
            <a:r>
              <a:rPr lang="en-US" sz="3099">
                <a:solidFill>
                  <a:srgbClr val="000000"/>
                </a:solidFill>
                <a:latin typeface="Canva Sans"/>
                <a:ea typeface="Canva Sans"/>
                <a:cs typeface="Canva Sans"/>
                <a:sym typeface="Canva Sans"/>
              </a:rPr>
              <a:t>Nguồn yêu cầu:</a:t>
            </a:r>
          </a:p>
          <a:p>
            <a:pPr algn="l" marL="708537" indent="-236179" lvl="2">
              <a:lnSpc>
                <a:spcPts val="4339"/>
              </a:lnSpc>
              <a:buFont typeface="Arial"/>
              <a:buChar char="⚬"/>
            </a:pPr>
            <a:r>
              <a:rPr lang="en-US" sz="3099">
                <a:solidFill>
                  <a:srgbClr val="000000"/>
                </a:solidFill>
                <a:latin typeface="Canva Sans"/>
                <a:ea typeface="Canva Sans"/>
                <a:cs typeface="Canva Sans"/>
                <a:sym typeface="Canva Sans"/>
              </a:rPr>
              <a:t>SRS</a:t>
            </a:r>
          </a:p>
          <a:p>
            <a:pPr algn="l" marL="708537" indent="-236179" lvl="2">
              <a:lnSpc>
                <a:spcPts val="4339"/>
              </a:lnSpc>
              <a:buFont typeface="Arial"/>
              <a:buChar char="⚬"/>
            </a:pPr>
            <a:r>
              <a:rPr lang="en-US" sz="3099">
                <a:solidFill>
                  <a:srgbClr val="000000"/>
                </a:solidFill>
                <a:latin typeface="Canva Sans"/>
                <a:ea typeface="Canva Sans"/>
                <a:cs typeface="Canva Sans"/>
                <a:sym typeface="Canva Sans"/>
              </a:rPr>
              <a:t>Use Case</a:t>
            </a:r>
          </a:p>
          <a:p>
            <a:pPr algn="l" marL="708537" indent="-236179" lvl="2">
              <a:lnSpc>
                <a:spcPts val="4339"/>
              </a:lnSpc>
              <a:buFont typeface="Arial"/>
              <a:buChar char="⚬"/>
            </a:pPr>
            <a:r>
              <a:rPr lang="en-US" sz="3099">
                <a:solidFill>
                  <a:srgbClr val="000000"/>
                </a:solidFill>
                <a:latin typeface="Canva Sans"/>
                <a:ea typeface="Canva Sans"/>
                <a:cs typeface="Canva Sans"/>
                <a:sym typeface="Canva Sans"/>
              </a:rPr>
              <a:t>User Story</a:t>
            </a:r>
          </a:p>
          <a:p>
            <a:pPr algn="l" marL="708537" indent="-236179" lvl="2">
              <a:lnSpc>
                <a:spcPts val="4339"/>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6</a:t>
            </a:r>
          </a:p>
        </p:txBody>
      </p:sp>
      <p:sp>
        <p:nvSpPr>
          <p:cNvPr name="TextBox 3" id="3"/>
          <p:cNvSpPr txBox="true"/>
          <p:nvPr/>
        </p:nvSpPr>
        <p:spPr>
          <a:xfrm rot="0">
            <a:off x="5735860" y="442274"/>
            <a:ext cx="5859542"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Thiết Kế Hệ Thống</a:t>
            </a:r>
          </a:p>
        </p:txBody>
      </p:sp>
      <p:sp>
        <p:nvSpPr>
          <p:cNvPr name="TextBox 4" id="4"/>
          <p:cNvSpPr txBox="true"/>
          <p:nvPr/>
        </p:nvSpPr>
        <p:spPr>
          <a:xfrm rot="0">
            <a:off x="309639" y="2553624"/>
            <a:ext cx="4795990" cy="4997453"/>
          </a:xfrm>
          <a:prstGeom prst="rect">
            <a:avLst/>
          </a:prstGeom>
        </p:spPr>
        <p:txBody>
          <a:bodyPr anchor="t" rtlCol="false" tIns="0" lIns="0" bIns="0" rIns="0">
            <a:spAutoFit/>
          </a:bodyPr>
          <a:lstStyle/>
          <a:p>
            <a:pPr algn="l">
              <a:lnSpc>
                <a:spcPts val="4900"/>
              </a:lnSpc>
            </a:pPr>
            <a:r>
              <a:rPr lang="en-US" sz="3500" b="true">
                <a:solidFill>
                  <a:srgbClr val="000000"/>
                </a:solidFill>
                <a:latin typeface="Canva Sans Bold"/>
                <a:ea typeface="Canva Sans Bold"/>
                <a:cs typeface="Canva Sans Bold"/>
                <a:sym typeface="Canva Sans Bold"/>
              </a:rPr>
              <a:t>Workflow</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Đăng nhập</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Giỏ hàng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Quản lý đơn hàng</a:t>
            </a:r>
          </a:p>
          <a:p>
            <a:pPr algn="l" marL="800101" indent="-266700" lvl="2">
              <a:lnSpc>
                <a:spcPts val="4900"/>
              </a:lnSpc>
            </a:pPr>
            <a:r>
              <a:rPr lang="en-US" b="true" sz="3500">
                <a:solidFill>
                  <a:srgbClr val="000000"/>
                </a:solidFill>
                <a:latin typeface="Canva Sans Bold"/>
                <a:ea typeface="Canva Sans Bold"/>
                <a:cs typeface="Canva Sans Bold"/>
                <a:sym typeface="Canva Sans Bold"/>
              </a:rPr>
              <a:t>Kiểm thử áp dụng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Use case testing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Workflow testing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End-to-End testing</a:t>
            </a:r>
          </a:p>
        </p:txBody>
      </p:sp>
      <p:sp>
        <p:nvSpPr>
          <p:cNvPr name="TextBox 5" id="5"/>
          <p:cNvSpPr txBox="true"/>
          <p:nvPr/>
        </p:nvSpPr>
        <p:spPr>
          <a:xfrm rot="0">
            <a:off x="6068358" y="2578103"/>
            <a:ext cx="5194554" cy="6235703"/>
          </a:xfrm>
          <a:prstGeom prst="rect">
            <a:avLst/>
          </a:prstGeom>
        </p:spPr>
        <p:txBody>
          <a:bodyPr anchor="t" rtlCol="false" tIns="0" lIns="0" bIns="0" rIns="0">
            <a:spAutoFit/>
          </a:bodyPr>
          <a:lstStyle/>
          <a:p>
            <a:pPr algn="l">
              <a:lnSpc>
                <a:spcPts val="4900"/>
              </a:lnSpc>
            </a:pPr>
            <a:r>
              <a:rPr lang="en-US" sz="3500" b="true">
                <a:solidFill>
                  <a:srgbClr val="000000"/>
                </a:solidFill>
                <a:latin typeface="Canva Sans Bold"/>
                <a:ea typeface="Canva Sans Bold"/>
                <a:cs typeface="Canva Sans Bold"/>
                <a:sym typeface="Canva Sans Bold"/>
              </a:rPr>
              <a:t>Data Model</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User, Product, Order, Payment, Category</a:t>
            </a:r>
          </a:p>
          <a:p>
            <a:pPr algn="l" marL="800101" indent="-266700" lvl="2">
              <a:lnSpc>
                <a:spcPts val="4900"/>
              </a:lnSpc>
            </a:pPr>
            <a:r>
              <a:rPr lang="en-US" b="true" sz="3500">
                <a:solidFill>
                  <a:srgbClr val="000000"/>
                </a:solidFill>
                <a:latin typeface="Canva Sans Bold"/>
                <a:ea typeface="Canva Sans Bold"/>
                <a:cs typeface="Canva Sans Bold"/>
                <a:sym typeface="Canva Sans Bold"/>
              </a:rPr>
              <a:t>Kiểm thử dữ liệu</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Ràng buộc khóa</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Tính toàn vẹn dữ liệu</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Đồng bộ dữ liệu giữa API &amp; Database</a:t>
            </a:r>
          </a:p>
        </p:txBody>
      </p:sp>
      <p:sp>
        <p:nvSpPr>
          <p:cNvPr name="TextBox 6" id="6"/>
          <p:cNvSpPr txBox="true"/>
          <p:nvPr/>
        </p:nvSpPr>
        <p:spPr>
          <a:xfrm rot="0">
            <a:off x="11796312" y="2578103"/>
            <a:ext cx="6491688" cy="4489628"/>
          </a:xfrm>
          <a:prstGeom prst="rect">
            <a:avLst/>
          </a:prstGeom>
        </p:spPr>
        <p:txBody>
          <a:bodyPr anchor="t" rtlCol="false" tIns="0" lIns="0" bIns="0" rIns="0">
            <a:spAutoFit/>
          </a:bodyPr>
          <a:lstStyle/>
          <a:p>
            <a:pPr algn="l">
              <a:lnSpc>
                <a:spcPts val="5065"/>
              </a:lnSpc>
            </a:pPr>
            <a:r>
              <a:rPr lang="en-US" sz="3617" b="true">
                <a:solidFill>
                  <a:srgbClr val="000000"/>
                </a:solidFill>
                <a:latin typeface="Canva Sans Bold"/>
                <a:ea typeface="Canva Sans Bold"/>
                <a:cs typeface="Canva Sans Bold"/>
                <a:sym typeface="Canva Sans Bold"/>
              </a:rPr>
              <a:t>Đối tượng (UI/UX DESIGN)</a:t>
            </a:r>
          </a:p>
          <a:p>
            <a:pPr algn="l" marL="826947" indent="-275649" lvl="2">
              <a:lnSpc>
                <a:spcPts val="5065"/>
              </a:lnSpc>
              <a:buFont typeface="Arial"/>
              <a:buChar char="⚬"/>
            </a:pPr>
            <a:r>
              <a:rPr lang="en-US" sz="3617">
                <a:solidFill>
                  <a:srgbClr val="000000"/>
                </a:solidFill>
                <a:latin typeface="Canva Sans"/>
                <a:ea typeface="Canva Sans"/>
                <a:cs typeface="Canva Sans"/>
                <a:sym typeface="Canva Sans"/>
              </a:rPr>
              <a:t>Form nhập liệu</a:t>
            </a:r>
          </a:p>
          <a:p>
            <a:pPr algn="l" marL="826947" indent="-275649" lvl="2">
              <a:lnSpc>
                <a:spcPts val="5065"/>
              </a:lnSpc>
              <a:buFont typeface="Arial"/>
              <a:buChar char="⚬"/>
            </a:pPr>
            <a:r>
              <a:rPr lang="en-US" sz="3617">
                <a:solidFill>
                  <a:srgbClr val="000000"/>
                </a:solidFill>
                <a:latin typeface="Canva Sans"/>
                <a:ea typeface="Canva Sans"/>
                <a:cs typeface="Canva Sans"/>
                <a:sym typeface="Canva Sans"/>
              </a:rPr>
              <a:t>Điều hướng</a:t>
            </a:r>
          </a:p>
          <a:p>
            <a:pPr algn="l" marL="826947" indent="-275649" lvl="2">
              <a:lnSpc>
                <a:spcPts val="5065"/>
              </a:lnSpc>
              <a:buFont typeface="Arial"/>
              <a:buChar char="⚬"/>
            </a:pPr>
            <a:r>
              <a:rPr lang="en-US" sz="3617">
                <a:solidFill>
                  <a:srgbClr val="000000"/>
                </a:solidFill>
                <a:latin typeface="Canva Sans"/>
                <a:ea typeface="Canva Sans"/>
                <a:cs typeface="Canva Sans"/>
                <a:sym typeface="Canva Sans"/>
              </a:rPr>
              <a:t>Thông báo lỗi</a:t>
            </a:r>
          </a:p>
          <a:p>
            <a:pPr algn="l" marL="800198" indent="-266733" lvl="2">
              <a:lnSpc>
                <a:spcPts val="4900"/>
              </a:lnSpc>
            </a:pPr>
            <a:r>
              <a:rPr lang="en-US" b="true" sz="3500">
                <a:solidFill>
                  <a:srgbClr val="000000"/>
                </a:solidFill>
                <a:latin typeface="Canva Sans Bold"/>
                <a:ea typeface="Canva Sans Bold"/>
                <a:cs typeface="Canva Sans Bold"/>
                <a:sym typeface="Canva Sans Bold"/>
              </a:rPr>
              <a:t>Kiểm thử</a:t>
            </a:r>
          </a:p>
          <a:p>
            <a:pPr algn="l" marL="826947" indent="-275649" lvl="2">
              <a:lnSpc>
                <a:spcPts val="5065"/>
              </a:lnSpc>
              <a:buFont typeface="Arial"/>
              <a:buChar char="⚬"/>
            </a:pPr>
            <a:r>
              <a:rPr lang="en-US" sz="3617">
                <a:solidFill>
                  <a:srgbClr val="000000"/>
                </a:solidFill>
                <a:latin typeface="Canva Sans"/>
                <a:ea typeface="Canva Sans"/>
                <a:cs typeface="Canva Sans"/>
                <a:sym typeface="Canva Sans"/>
              </a:rPr>
              <a:t>Usability testing</a:t>
            </a:r>
          </a:p>
          <a:p>
            <a:pPr algn="l" marL="826947" indent="-275649" lvl="2">
              <a:lnSpc>
                <a:spcPts val="5065"/>
              </a:lnSpc>
              <a:buFont typeface="Arial"/>
              <a:buChar char="⚬"/>
            </a:pPr>
            <a:r>
              <a:rPr lang="en-US" sz="3617">
                <a:solidFill>
                  <a:srgbClr val="000000"/>
                </a:solidFill>
                <a:latin typeface="Canva Sans"/>
                <a:ea typeface="Canva Sans"/>
                <a:cs typeface="Canva Sans"/>
                <a:sym typeface="Canva Sans"/>
              </a:rPr>
              <a:t>UI automation (Selenium)</a:t>
            </a:r>
          </a:p>
        </p:txBody>
      </p:sp>
      <p:grpSp>
        <p:nvGrpSpPr>
          <p:cNvPr name="Group 7" id="7"/>
          <p:cNvGrpSpPr/>
          <p:nvPr/>
        </p:nvGrpSpPr>
        <p:grpSpPr>
          <a:xfrm rot="0">
            <a:off x="5349583" y="2692403"/>
            <a:ext cx="38100" cy="6584947"/>
            <a:chOff x="0" y="0"/>
            <a:chExt cx="50800" cy="8779929"/>
          </a:xfrm>
        </p:grpSpPr>
        <p:sp>
          <p:nvSpPr>
            <p:cNvPr name="Freeform 8" id="8"/>
            <p:cNvSpPr/>
            <p:nvPr/>
          </p:nvSpPr>
          <p:spPr>
            <a:xfrm flipH="false" flipV="false" rot="0">
              <a:off x="0" y="25400"/>
              <a:ext cx="50800" cy="8729091"/>
            </a:xfrm>
            <a:custGeom>
              <a:avLst/>
              <a:gdLst/>
              <a:ahLst/>
              <a:cxnLst/>
              <a:rect r="r" b="b" t="t" l="l"/>
              <a:pathLst>
                <a:path h="8729091" w="50800">
                  <a:moveTo>
                    <a:pt x="0" y="8729091"/>
                  </a:moveTo>
                  <a:lnTo>
                    <a:pt x="0" y="0"/>
                  </a:lnTo>
                  <a:lnTo>
                    <a:pt x="50800" y="0"/>
                  </a:lnTo>
                  <a:lnTo>
                    <a:pt x="50800" y="8729091"/>
                  </a:lnTo>
                  <a:close/>
                </a:path>
              </a:pathLst>
            </a:custGeom>
            <a:solidFill>
              <a:srgbClr val="000000"/>
            </a:solidFill>
            <a:ln w="12700">
              <a:solidFill>
                <a:srgbClr val="000000"/>
              </a:solidFill>
            </a:ln>
          </p:spPr>
        </p:sp>
      </p:grpSp>
      <p:grpSp>
        <p:nvGrpSpPr>
          <p:cNvPr name="Group 9" id="9"/>
          <p:cNvGrpSpPr/>
          <p:nvPr/>
        </p:nvGrpSpPr>
        <p:grpSpPr>
          <a:xfrm rot="0">
            <a:off x="11510562" y="2692403"/>
            <a:ext cx="38100" cy="6584947"/>
            <a:chOff x="0" y="0"/>
            <a:chExt cx="50800" cy="8779929"/>
          </a:xfrm>
        </p:grpSpPr>
        <p:sp>
          <p:nvSpPr>
            <p:cNvPr name="Freeform 10" id="10"/>
            <p:cNvSpPr/>
            <p:nvPr/>
          </p:nvSpPr>
          <p:spPr>
            <a:xfrm flipH="false" flipV="false" rot="0">
              <a:off x="0" y="25400"/>
              <a:ext cx="50800" cy="8729091"/>
            </a:xfrm>
            <a:custGeom>
              <a:avLst/>
              <a:gdLst/>
              <a:ahLst/>
              <a:cxnLst/>
              <a:rect r="r" b="b" t="t" l="l"/>
              <a:pathLst>
                <a:path h="8729091" w="50800">
                  <a:moveTo>
                    <a:pt x="0" y="8729091"/>
                  </a:moveTo>
                  <a:lnTo>
                    <a:pt x="0" y="0"/>
                  </a:lnTo>
                  <a:lnTo>
                    <a:pt x="50800" y="0"/>
                  </a:lnTo>
                  <a:lnTo>
                    <a:pt x="50800" y="8729091"/>
                  </a:lnTo>
                  <a:close/>
                </a:path>
              </a:pathLst>
            </a:custGeom>
            <a:solidFill>
              <a:srgbClr val="000000"/>
            </a:solidFill>
            <a:ln w="12700">
              <a:solidFill>
                <a:srgbClr val="000000"/>
              </a:solidFill>
            </a:ln>
          </p:spPr>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7</a:t>
            </a:r>
          </a:p>
        </p:txBody>
      </p:sp>
      <p:sp>
        <p:nvSpPr>
          <p:cNvPr name="TextBox 3" id="3"/>
          <p:cNvSpPr txBox="true"/>
          <p:nvPr/>
        </p:nvSpPr>
        <p:spPr>
          <a:xfrm rot="0">
            <a:off x="779593" y="857250"/>
            <a:ext cx="6639639" cy="824227"/>
          </a:xfrm>
          <a:prstGeom prst="rect">
            <a:avLst/>
          </a:prstGeom>
        </p:spPr>
        <p:txBody>
          <a:bodyPr anchor="t" rtlCol="false" tIns="0" lIns="0" bIns="0" rIns="0">
            <a:spAutoFit/>
          </a:bodyPr>
          <a:lstStyle/>
          <a:p>
            <a:pPr algn="ctr">
              <a:lnSpc>
                <a:spcPts val="6020"/>
              </a:lnSpc>
            </a:pPr>
            <a:r>
              <a:rPr lang="en-US" sz="4300" b="true">
                <a:solidFill>
                  <a:srgbClr val="000000"/>
                </a:solidFill>
                <a:latin typeface="Canva Sans Bold"/>
                <a:ea typeface="Canva Sans Bold"/>
                <a:cs typeface="Canva Sans Bold"/>
                <a:sym typeface="Canva Sans Bold"/>
              </a:rPr>
              <a:t>Kiểm Thử Phi Chức Năng</a:t>
            </a:r>
          </a:p>
        </p:txBody>
      </p:sp>
      <p:sp>
        <p:nvSpPr>
          <p:cNvPr name="TextBox 4" id="4"/>
          <p:cNvSpPr txBox="true"/>
          <p:nvPr/>
        </p:nvSpPr>
        <p:spPr>
          <a:xfrm rot="0">
            <a:off x="8452266" y="857250"/>
            <a:ext cx="9168174" cy="824227"/>
          </a:xfrm>
          <a:prstGeom prst="rect">
            <a:avLst/>
          </a:prstGeom>
        </p:spPr>
        <p:txBody>
          <a:bodyPr anchor="t" rtlCol="false" tIns="0" lIns="0" bIns="0" rIns="0">
            <a:spAutoFit/>
          </a:bodyPr>
          <a:lstStyle/>
          <a:p>
            <a:pPr algn="ctr">
              <a:lnSpc>
                <a:spcPts val="6020"/>
              </a:lnSpc>
            </a:pPr>
            <a:r>
              <a:rPr lang="en-US" sz="4300" b="true">
                <a:solidFill>
                  <a:srgbClr val="000000"/>
                </a:solidFill>
                <a:latin typeface="Canva Sans Bold"/>
                <a:ea typeface="Canva Sans Bold"/>
                <a:cs typeface="Canva Sans Bold"/>
                <a:sym typeface="Canva Sans Bold"/>
              </a:rPr>
              <a:t>Kiến Trúc Và Chiến Lược Kiểm Thử</a:t>
            </a:r>
          </a:p>
        </p:txBody>
      </p:sp>
      <p:grpSp>
        <p:nvGrpSpPr>
          <p:cNvPr name="Group 5" id="5"/>
          <p:cNvGrpSpPr/>
          <p:nvPr/>
        </p:nvGrpSpPr>
        <p:grpSpPr>
          <a:xfrm rot="0">
            <a:off x="7935306" y="1906114"/>
            <a:ext cx="38100" cy="7522054"/>
            <a:chOff x="0" y="0"/>
            <a:chExt cx="50800" cy="10029406"/>
          </a:xfrm>
        </p:grpSpPr>
        <p:sp>
          <p:nvSpPr>
            <p:cNvPr name="Freeform 6" id="6"/>
            <p:cNvSpPr/>
            <p:nvPr/>
          </p:nvSpPr>
          <p:spPr>
            <a:xfrm flipH="false" flipV="false" rot="0">
              <a:off x="0" y="25400"/>
              <a:ext cx="50800" cy="9978644"/>
            </a:xfrm>
            <a:custGeom>
              <a:avLst/>
              <a:gdLst/>
              <a:ahLst/>
              <a:cxnLst/>
              <a:rect r="r" b="b" t="t" l="l"/>
              <a:pathLst>
                <a:path h="9978644" w="50800">
                  <a:moveTo>
                    <a:pt x="50800" y="0"/>
                  </a:moveTo>
                  <a:lnTo>
                    <a:pt x="50800" y="9978644"/>
                  </a:lnTo>
                  <a:lnTo>
                    <a:pt x="0" y="9978644"/>
                  </a:lnTo>
                  <a:lnTo>
                    <a:pt x="0" y="0"/>
                  </a:lnTo>
                  <a:close/>
                </a:path>
              </a:pathLst>
            </a:custGeom>
            <a:solidFill>
              <a:srgbClr val="000000"/>
            </a:solidFill>
            <a:ln w="12700">
              <a:solidFill>
                <a:srgbClr val="000000"/>
              </a:solidFill>
            </a:ln>
          </p:spPr>
        </p:sp>
      </p:grpSp>
      <p:sp>
        <p:nvSpPr>
          <p:cNvPr name="TextBox 7" id="7"/>
          <p:cNvSpPr txBox="true"/>
          <p:nvPr/>
        </p:nvSpPr>
        <p:spPr>
          <a:xfrm rot="0">
            <a:off x="1832524" y="2578103"/>
            <a:ext cx="3546872" cy="4997453"/>
          </a:xfrm>
          <a:prstGeom prst="rect">
            <a:avLst/>
          </a:prstGeom>
        </p:spPr>
        <p:txBody>
          <a:bodyPr anchor="t" rtlCol="false" tIns="0" lIns="0" bIns="0" rIns="0">
            <a:spAutoFit/>
          </a:bodyPr>
          <a:lstStyle/>
          <a:p>
            <a:pPr algn="l">
              <a:lnSpc>
                <a:spcPts val="4900"/>
              </a:lnSpc>
            </a:pPr>
            <a:r>
              <a:rPr lang="en-US" sz="3500" b="true">
                <a:solidFill>
                  <a:srgbClr val="000000"/>
                </a:solidFill>
                <a:latin typeface="Canva Sans Bold"/>
                <a:ea typeface="Canva Sans Bold"/>
                <a:cs typeface="Canva Sans Bold"/>
                <a:sym typeface="Canva Sans Bold"/>
              </a:rPr>
              <a:t>Hiệu năng: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Load Test</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Stress Test</a:t>
            </a:r>
          </a:p>
          <a:p>
            <a:pPr algn="l" marL="800101" indent="-266700" lvl="2">
              <a:lnSpc>
                <a:spcPts val="4900"/>
              </a:lnSpc>
            </a:pPr>
            <a:r>
              <a:rPr lang="en-US" b="true" sz="3500">
                <a:solidFill>
                  <a:srgbClr val="000000"/>
                </a:solidFill>
                <a:latin typeface="Canva Sans Bold"/>
                <a:ea typeface="Canva Sans Bold"/>
                <a:cs typeface="Canva Sans Bold"/>
                <a:sym typeface="Canva Sans Bold"/>
              </a:rPr>
              <a:t>Bảo mật cơ bản:</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Xác thực</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Phân quyền</a:t>
            </a:r>
          </a:p>
          <a:p>
            <a:pPr algn="l" marL="800101" indent="-266700" lvl="2">
              <a:lnSpc>
                <a:spcPts val="4900"/>
              </a:lnSpc>
            </a:pPr>
            <a:r>
              <a:rPr lang="en-US" b="true" sz="3500">
                <a:solidFill>
                  <a:srgbClr val="000000"/>
                </a:solidFill>
                <a:latin typeface="Canva Sans Bold"/>
                <a:ea typeface="Canva Sans Bold"/>
                <a:cs typeface="Canva Sans Bold"/>
                <a:sym typeface="Canva Sans Bold"/>
              </a:rPr>
              <a:t>Khả dụng:</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UI &amp; UX</a:t>
            </a:r>
          </a:p>
        </p:txBody>
      </p:sp>
      <p:sp>
        <p:nvSpPr>
          <p:cNvPr name="TextBox 8" id="8"/>
          <p:cNvSpPr txBox="true"/>
          <p:nvPr/>
        </p:nvSpPr>
        <p:spPr>
          <a:xfrm rot="0">
            <a:off x="8930640" y="2578103"/>
            <a:ext cx="7526836" cy="4997453"/>
          </a:xfrm>
          <a:prstGeom prst="rect">
            <a:avLst/>
          </a:prstGeom>
        </p:spPr>
        <p:txBody>
          <a:bodyPr anchor="t" rtlCol="false" tIns="0" lIns="0" bIns="0" rIns="0">
            <a:spAutoFit/>
          </a:bodyPr>
          <a:lstStyle/>
          <a:p>
            <a:pPr algn="l">
              <a:lnSpc>
                <a:spcPts val="4900"/>
              </a:lnSpc>
            </a:pPr>
            <a:r>
              <a:rPr lang="en-US" sz="3500" b="true">
                <a:solidFill>
                  <a:srgbClr val="000000"/>
                </a:solidFill>
                <a:latin typeface="Canva Sans Bold"/>
                <a:ea typeface="Canva Sans Bold"/>
                <a:cs typeface="Canva Sans Bold"/>
                <a:sym typeface="Canva Sans Bold"/>
              </a:rPr>
              <a:t>Thiết kế kiến trúc</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Frontend – Backend – Database</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API giao tiếp REST</a:t>
            </a:r>
          </a:p>
          <a:p>
            <a:pPr algn="l" marL="800101" indent="-266700" lvl="2">
              <a:lnSpc>
                <a:spcPts val="4900"/>
              </a:lnSpc>
            </a:pPr>
            <a:r>
              <a:rPr lang="en-US" b="true" sz="3500">
                <a:solidFill>
                  <a:srgbClr val="000000"/>
                </a:solidFill>
                <a:latin typeface="Canva Sans Bold"/>
                <a:ea typeface="Canva Sans Bold"/>
                <a:cs typeface="Canva Sans Bold"/>
                <a:sym typeface="Canva Sans Bold"/>
              </a:rPr>
              <a:t>Chiến lược kiểm thử</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Unit Test</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Integration Test</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System Test</a:t>
            </a:r>
          </a:p>
          <a:p>
            <a:pPr algn="l" marL="800101" indent="-266700" lvl="2">
              <a:lnSpc>
                <a:spcPts val="4900"/>
              </a:lnSpc>
              <a:buFont typeface="Arial"/>
              <a:buChar char="⚬"/>
            </a:pPr>
            <a:r>
              <a:rPr lang="en-US" sz="3500">
                <a:solidFill>
                  <a:srgbClr val="000000"/>
                </a:solidFill>
                <a:latin typeface="Canva Sans"/>
                <a:ea typeface="Canva Sans"/>
                <a:cs typeface="Canva Sans"/>
                <a:sym typeface="Canva Sans"/>
              </a:rPr>
              <a:t>CI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58030" y="560422"/>
            <a:ext cx="11301260" cy="4350982"/>
            <a:chOff x="0" y="0"/>
            <a:chExt cx="15068347" cy="5801309"/>
          </a:xfrm>
        </p:grpSpPr>
        <p:sp>
          <p:nvSpPr>
            <p:cNvPr name="Freeform 3" id="3"/>
            <p:cNvSpPr/>
            <p:nvPr/>
          </p:nvSpPr>
          <p:spPr>
            <a:xfrm flipH="false" flipV="false" rot="0">
              <a:off x="0" y="0"/>
              <a:ext cx="15068296" cy="5801360"/>
            </a:xfrm>
            <a:custGeom>
              <a:avLst/>
              <a:gdLst/>
              <a:ahLst/>
              <a:cxnLst/>
              <a:rect r="r" b="b" t="t" l="l"/>
              <a:pathLst>
                <a:path h="5801360" w="15068296">
                  <a:moveTo>
                    <a:pt x="0" y="0"/>
                  </a:moveTo>
                  <a:lnTo>
                    <a:pt x="15068296" y="0"/>
                  </a:lnTo>
                  <a:lnTo>
                    <a:pt x="15068296" y="5801360"/>
                  </a:lnTo>
                  <a:lnTo>
                    <a:pt x="0" y="5801360"/>
                  </a:lnTo>
                  <a:lnTo>
                    <a:pt x="0" y="0"/>
                  </a:lnTo>
                  <a:close/>
                </a:path>
              </a:pathLst>
            </a:custGeom>
            <a:blipFill>
              <a:blip r:embed="rId2"/>
              <a:stretch>
                <a:fillRect l="0" t="0" r="0" b="0"/>
              </a:stretch>
            </a:blipFill>
          </p:spPr>
        </p:sp>
      </p:grpSp>
      <p:grpSp>
        <p:nvGrpSpPr>
          <p:cNvPr name="Group 4" id="4"/>
          <p:cNvGrpSpPr/>
          <p:nvPr/>
        </p:nvGrpSpPr>
        <p:grpSpPr>
          <a:xfrm rot="0">
            <a:off x="10509990" y="5143500"/>
            <a:ext cx="5703684" cy="3628968"/>
            <a:chOff x="0" y="0"/>
            <a:chExt cx="7604912" cy="4838624"/>
          </a:xfrm>
        </p:grpSpPr>
        <p:sp>
          <p:nvSpPr>
            <p:cNvPr name="Freeform 5" id="5"/>
            <p:cNvSpPr/>
            <p:nvPr/>
          </p:nvSpPr>
          <p:spPr>
            <a:xfrm flipH="false" flipV="false" rot="0">
              <a:off x="0" y="0"/>
              <a:ext cx="7604887" cy="4838573"/>
            </a:xfrm>
            <a:custGeom>
              <a:avLst/>
              <a:gdLst/>
              <a:ahLst/>
              <a:cxnLst/>
              <a:rect r="r" b="b" t="t" l="l"/>
              <a:pathLst>
                <a:path h="4838573" w="7604887">
                  <a:moveTo>
                    <a:pt x="0" y="0"/>
                  </a:moveTo>
                  <a:lnTo>
                    <a:pt x="7604887" y="0"/>
                  </a:lnTo>
                  <a:lnTo>
                    <a:pt x="7604887" y="4838573"/>
                  </a:lnTo>
                  <a:lnTo>
                    <a:pt x="0" y="4838573"/>
                  </a:lnTo>
                  <a:lnTo>
                    <a:pt x="0" y="0"/>
                  </a:lnTo>
                  <a:close/>
                </a:path>
              </a:pathLst>
            </a:custGeom>
            <a:blipFill>
              <a:blip r:embed="rId3"/>
              <a:stretch>
                <a:fillRect l="-81" t="0" r="-81" b="-1"/>
              </a:stretch>
            </a:blipFill>
          </p:spPr>
        </p:sp>
      </p:grpSp>
      <p:sp>
        <p:nvSpPr>
          <p:cNvPr name="TextBox 6" id="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8</a:t>
            </a:r>
          </a:p>
        </p:txBody>
      </p:sp>
      <p:sp>
        <p:nvSpPr>
          <p:cNvPr name="TextBox 7" id="7"/>
          <p:cNvSpPr txBox="true"/>
          <p:nvPr/>
        </p:nvSpPr>
        <p:spPr>
          <a:xfrm rot="0">
            <a:off x="2200065" y="4797104"/>
            <a:ext cx="2754982" cy="578482"/>
          </a:xfrm>
          <a:prstGeom prst="rect">
            <a:avLst/>
          </a:prstGeom>
        </p:spPr>
        <p:txBody>
          <a:bodyPr anchor="t" rtlCol="false" tIns="0" lIns="0" bIns="0" rIns="0">
            <a:spAutoFit/>
          </a:bodyPr>
          <a:lstStyle/>
          <a:p>
            <a:pPr algn="ctr">
              <a:lnSpc>
                <a:spcPts val="4339"/>
              </a:lnSpc>
            </a:pPr>
            <a:r>
              <a:rPr lang="en-US" sz="3099" b="true">
                <a:solidFill>
                  <a:srgbClr val="000000"/>
                </a:solidFill>
                <a:latin typeface="Canva Sans Bold"/>
                <a:ea typeface="Canva Sans Bold"/>
                <a:cs typeface="Canva Sans Bold"/>
                <a:sym typeface="Canva Sans Bold"/>
              </a:rPr>
              <a:t>2.1. Sơ đồ khối</a:t>
            </a:r>
          </a:p>
        </p:txBody>
      </p:sp>
      <p:sp>
        <p:nvSpPr>
          <p:cNvPr name="TextBox 8" id="8"/>
          <p:cNvSpPr txBox="true"/>
          <p:nvPr/>
        </p:nvSpPr>
        <p:spPr>
          <a:xfrm rot="0">
            <a:off x="11635264" y="9294809"/>
            <a:ext cx="3758917" cy="578482"/>
          </a:xfrm>
          <a:prstGeom prst="rect">
            <a:avLst/>
          </a:prstGeom>
        </p:spPr>
        <p:txBody>
          <a:bodyPr anchor="t" rtlCol="false" tIns="0" lIns="0" bIns="0" rIns="0">
            <a:spAutoFit/>
          </a:bodyPr>
          <a:lstStyle/>
          <a:p>
            <a:pPr algn="ctr">
              <a:lnSpc>
                <a:spcPts val="4339"/>
              </a:lnSpc>
            </a:pPr>
            <a:r>
              <a:rPr lang="en-US" sz="3099" b="true">
                <a:solidFill>
                  <a:srgbClr val="000000"/>
                </a:solidFill>
                <a:latin typeface="Canva Sans Bold"/>
                <a:ea typeface="Canva Sans Bold"/>
                <a:cs typeface="Canva Sans Bold"/>
                <a:sym typeface="Canva Sans Bold"/>
              </a:rPr>
              <a:t>2.2. Sơ đồ ngữ cảnh</a:t>
            </a:r>
          </a:p>
        </p:txBody>
      </p:sp>
      <p:sp>
        <p:nvSpPr>
          <p:cNvPr name="TextBox 9" id="9"/>
          <p:cNvSpPr txBox="true"/>
          <p:nvPr/>
        </p:nvSpPr>
        <p:spPr>
          <a:xfrm rot="0">
            <a:off x="4854254" y="6868373"/>
            <a:ext cx="3113122" cy="772163"/>
          </a:xfrm>
          <a:prstGeom prst="rect">
            <a:avLst/>
          </a:prstGeom>
        </p:spPr>
        <p:txBody>
          <a:bodyPr anchor="t" rtlCol="false" tIns="0" lIns="0" bIns="0" rIns="0">
            <a:spAutoFit/>
          </a:bodyPr>
          <a:lstStyle/>
          <a:p>
            <a:pPr algn="ctr">
              <a:lnSpc>
                <a:spcPts val="5740"/>
              </a:lnSpc>
            </a:pPr>
            <a:r>
              <a:rPr lang="en-US" sz="4100" b="true">
                <a:solidFill>
                  <a:srgbClr val="000000"/>
                </a:solidFill>
                <a:latin typeface="Canva Sans Bold"/>
                <a:ea typeface="Canva Sans Bold"/>
                <a:cs typeface="Canva Sans Bold"/>
                <a:sym typeface="Canva Sans Bold"/>
              </a:rPr>
              <a:t>Kiến trúc C4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0621" y="1028700"/>
            <a:ext cx="6568707" cy="6297749"/>
            <a:chOff x="0" y="0"/>
            <a:chExt cx="8758276" cy="8396999"/>
          </a:xfrm>
        </p:grpSpPr>
        <p:sp>
          <p:nvSpPr>
            <p:cNvPr name="Freeform 3" id="3"/>
            <p:cNvSpPr/>
            <p:nvPr/>
          </p:nvSpPr>
          <p:spPr>
            <a:xfrm flipH="false" flipV="false" rot="0">
              <a:off x="0" y="0"/>
              <a:ext cx="8758301" cy="8396986"/>
            </a:xfrm>
            <a:custGeom>
              <a:avLst/>
              <a:gdLst/>
              <a:ahLst/>
              <a:cxnLst/>
              <a:rect r="r" b="b" t="t" l="l"/>
              <a:pathLst>
                <a:path h="8396986" w="8758301">
                  <a:moveTo>
                    <a:pt x="0" y="0"/>
                  </a:moveTo>
                  <a:lnTo>
                    <a:pt x="8758301" y="0"/>
                  </a:lnTo>
                  <a:lnTo>
                    <a:pt x="8758301" y="8396986"/>
                  </a:lnTo>
                  <a:lnTo>
                    <a:pt x="0" y="8396986"/>
                  </a:lnTo>
                  <a:lnTo>
                    <a:pt x="0" y="0"/>
                  </a:lnTo>
                  <a:close/>
                </a:path>
              </a:pathLst>
            </a:custGeom>
            <a:blipFill>
              <a:blip r:embed="rId2"/>
              <a:stretch>
                <a:fillRect l="-30" t="0" r="-29" b="0"/>
              </a:stretch>
            </a:blipFill>
          </p:spPr>
        </p:sp>
      </p:grpSp>
      <p:grpSp>
        <p:nvGrpSpPr>
          <p:cNvPr name="Group 4" id="4"/>
          <p:cNvGrpSpPr/>
          <p:nvPr/>
        </p:nvGrpSpPr>
        <p:grpSpPr>
          <a:xfrm rot="0">
            <a:off x="8512112" y="1239450"/>
            <a:ext cx="8455028" cy="5876249"/>
            <a:chOff x="0" y="0"/>
            <a:chExt cx="11273371" cy="7834998"/>
          </a:xfrm>
        </p:grpSpPr>
        <p:sp>
          <p:nvSpPr>
            <p:cNvPr name="Freeform 5" id="5"/>
            <p:cNvSpPr/>
            <p:nvPr/>
          </p:nvSpPr>
          <p:spPr>
            <a:xfrm flipH="false" flipV="false" rot="0">
              <a:off x="0" y="0"/>
              <a:ext cx="11273409" cy="7835011"/>
            </a:xfrm>
            <a:custGeom>
              <a:avLst/>
              <a:gdLst/>
              <a:ahLst/>
              <a:cxnLst/>
              <a:rect r="r" b="b" t="t" l="l"/>
              <a:pathLst>
                <a:path h="7835011" w="11273409">
                  <a:moveTo>
                    <a:pt x="0" y="0"/>
                  </a:moveTo>
                  <a:lnTo>
                    <a:pt x="11273409" y="0"/>
                  </a:lnTo>
                  <a:lnTo>
                    <a:pt x="11273409" y="7835011"/>
                  </a:lnTo>
                  <a:lnTo>
                    <a:pt x="0" y="7835011"/>
                  </a:lnTo>
                  <a:lnTo>
                    <a:pt x="0" y="0"/>
                  </a:lnTo>
                  <a:close/>
                </a:path>
              </a:pathLst>
            </a:custGeom>
            <a:blipFill>
              <a:blip r:embed="rId3"/>
              <a:stretch>
                <a:fillRect l="-2" t="0" r="-2" b="0"/>
              </a:stretch>
            </a:blipFill>
          </p:spPr>
        </p:sp>
      </p:grpSp>
      <p:sp>
        <p:nvSpPr>
          <p:cNvPr name="TextBox 6" id="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9</a:t>
            </a:r>
          </a:p>
        </p:txBody>
      </p:sp>
      <p:sp>
        <p:nvSpPr>
          <p:cNvPr name="TextBox 7" id="7"/>
          <p:cNvSpPr txBox="true"/>
          <p:nvPr/>
        </p:nvSpPr>
        <p:spPr>
          <a:xfrm rot="0">
            <a:off x="2456069" y="7881461"/>
            <a:ext cx="3876323" cy="578482"/>
          </a:xfrm>
          <a:prstGeom prst="rect">
            <a:avLst/>
          </a:prstGeom>
        </p:spPr>
        <p:txBody>
          <a:bodyPr anchor="t" rtlCol="false" tIns="0" lIns="0" bIns="0" rIns="0">
            <a:spAutoFit/>
          </a:bodyPr>
          <a:lstStyle/>
          <a:p>
            <a:pPr algn="ctr">
              <a:lnSpc>
                <a:spcPts val="4339"/>
              </a:lnSpc>
            </a:pPr>
            <a:r>
              <a:rPr lang="en-US" sz="3099" b="true">
                <a:solidFill>
                  <a:srgbClr val="000000"/>
                </a:solidFill>
                <a:latin typeface="Canva Sans Bold"/>
                <a:ea typeface="Canva Sans Bold"/>
                <a:cs typeface="Canva Sans Bold"/>
                <a:sym typeface="Canva Sans Bold"/>
              </a:rPr>
              <a:t>2.3. Sơ đồ Container</a:t>
            </a:r>
          </a:p>
        </p:txBody>
      </p:sp>
      <p:sp>
        <p:nvSpPr>
          <p:cNvPr name="TextBox 8" id="8"/>
          <p:cNvSpPr txBox="true"/>
          <p:nvPr/>
        </p:nvSpPr>
        <p:spPr>
          <a:xfrm rot="0">
            <a:off x="11212268" y="7881461"/>
            <a:ext cx="4239216" cy="578482"/>
          </a:xfrm>
          <a:prstGeom prst="rect">
            <a:avLst/>
          </a:prstGeom>
        </p:spPr>
        <p:txBody>
          <a:bodyPr anchor="t" rtlCol="false" tIns="0" lIns="0" bIns="0" rIns="0">
            <a:spAutoFit/>
          </a:bodyPr>
          <a:lstStyle/>
          <a:p>
            <a:pPr algn="ctr">
              <a:lnSpc>
                <a:spcPts val="4339"/>
              </a:lnSpc>
            </a:pPr>
            <a:r>
              <a:rPr lang="en-US" sz="3099" b="true">
                <a:solidFill>
                  <a:srgbClr val="000000"/>
                </a:solidFill>
                <a:latin typeface="Canva Sans Bold"/>
                <a:ea typeface="Canva Sans Bold"/>
                <a:cs typeface="Canva Sans Bold"/>
                <a:sym typeface="Canva Sans Bold"/>
              </a:rPr>
              <a:t>2.4. Sơ đồ Thành phần</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69849" y="3013643"/>
            <a:ext cx="13950258" cy="4678042"/>
          </a:xfrm>
          <a:prstGeom prst="rect">
            <a:avLst/>
          </a:prstGeom>
        </p:spPr>
        <p:txBody>
          <a:bodyPr anchor="t" rtlCol="false" tIns="0" lIns="0" bIns="0" rIns="0">
            <a:spAutoFit/>
          </a:bodyPr>
          <a:lstStyle/>
          <a:p>
            <a:pPr algn="l" marL="1188598" indent="-396199" lvl="2">
              <a:lnSpc>
                <a:spcPts val="7278"/>
              </a:lnSpc>
              <a:buFont typeface="Arial"/>
              <a:buChar char="⚬"/>
            </a:pPr>
            <a:r>
              <a:rPr lang="en-US" sz="5198">
                <a:solidFill>
                  <a:srgbClr val="000000"/>
                </a:solidFill>
                <a:latin typeface="Canva Sans"/>
                <a:ea typeface="Canva Sans"/>
                <a:cs typeface="Canva Sans"/>
                <a:sym typeface="Canva Sans"/>
              </a:rPr>
              <a:t>Kiểm thử hộp đen</a:t>
            </a:r>
          </a:p>
          <a:p>
            <a:pPr algn="l" marL="1188598" indent="-396199" lvl="2">
              <a:lnSpc>
                <a:spcPts val="7278"/>
              </a:lnSpc>
              <a:buFont typeface="Arial"/>
              <a:buChar char="⚬"/>
            </a:pPr>
            <a:r>
              <a:rPr lang="en-US" sz="5198">
                <a:solidFill>
                  <a:srgbClr val="000000"/>
                </a:solidFill>
                <a:latin typeface="Canva Sans"/>
                <a:ea typeface="Canva Sans"/>
                <a:cs typeface="Canva Sans"/>
                <a:sym typeface="Canva Sans"/>
              </a:rPr>
              <a:t>Kiểm thử hộp trắng</a:t>
            </a:r>
          </a:p>
          <a:p>
            <a:pPr algn="l" marL="1188598" indent="-396199" lvl="2">
              <a:lnSpc>
                <a:spcPts val="7278"/>
              </a:lnSpc>
              <a:buFont typeface="Arial"/>
              <a:buChar char="⚬"/>
            </a:pPr>
            <a:r>
              <a:rPr lang="en-US" sz="5198">
                <a:solidFill>
                  <a:srgbClr val="000000"/>
                </a:solidFill>
                <a:latin typeface="Canva Sans"/>
                <a:ea typeface="Canva Sans"/>
                <a:cs typeface="Canva Sans"/>
                <a:sym typeface="Canva Sans"/>
              </a:rPr>
              <a:t>Kiểm thử nghiệp vụ (Use case, Workflow)</a:t>
            </a:r>
          </a:p>
          <a:p>
            <a:pPr algn="l" marL="1188598" indent="-396199" lvl="2">
              <a:lnSpc>
                <a:spcPts val="7278"/>
              </a:lnSpc>
              <a:buFont typeface="Arial"/>
              <a:buChar char="⚬"/>
            </a:pPr>
            <a:r>
              <a:rPr lang="en-US" sz="5198">
                <a:solidFill>
                  <a:srgbClr val="000000"/>
                </a:solidFill>
                <a:latin typeface="Canva Sans"/>
                <a:ea typeface="Canva Sans"/>
                <a:cs typeface="Canva Sans"/>
                <a:sym typeface="Canva Sans"/>
              </a:rPr>
              <a:t>Kiểm thử đơn vị &amp; tích hợp</a:t>
            </a:r>
          </a:p>
          <a:p>
            <a:pPr algn="l" marL="1188598" indent="-396199" lvl="2">
              <a:lnSpc>
                <a:spcPts val="7278"/>
              </a:lnSpc>
              <a:buFont typeface="Arial"/>
              <a:buChar char="⚬"/>
            </a:pPr>
            <a:r>
              <a:rPr lang="en-US" sz="5198">
                <a:solidFill>
                  <a:srgbClr val="000000"/>
                </a:solidFill>
                <a:latin typeface="Canva Sans"/>
                <a:ea typeface="Canva Sans"/>
                <a:cs typeface="Canva Sans"/>
                <a:sym typeface="Canva Sans"/>
              </a:rPr>
              <a:t>CI</a:t>
            </a:r>
          </a:p>
        </p:txBody>
      </p:sp>
      <p:sp>
        <p:nvSpPr>
          <p:cNvPr name="TextBox 3" id="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10</a:t>
            </a:r>
          </a:p>
        </p:txBody>
      </p:sp>
      <p:sp>
        <p:nvSpPr>
          <p:cNvPr name="TextBox 4" id="4"/>
          <p:cNvSpPr txBox="true"/>
          <p:nvPr/>
        </p:nvSpPr>
        <p:spPr>
          <a:xfrm rot="0">
            <a:off x="1028700" y="1490520"/>
            <a:ext cx="13691111"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3. Các phương pháp luận trong kiểm thử</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76300"/>
            <a:ext cx="7846333" cy="3575047"/>
          </a:xfrm>
          <a:prstGeom prst="rect">
            <a:avLst/>
          </a:prstGeom>
        </p:spPr>
        <p:txBody>
          <a:bodyPr anchor="t" rtlCol="false" tIns="0" lIns="0" bIns="0" rIns="0">
            <a:spAutoFit/>
          </a:bodyPr>
          <a:lstStyle/>
          <a:p>
            <a:pPr algn="l">
              <a:lnSpc>
                <a:spcPts val="5598"/>
              </a:lnSpc>
            </a:pPr>
            <a:r>
              <a:rPr lang="en-US" sz="3999" b="true">
                <a:solidFill>
                  <a:srgbClr val="000000"/>
                </a:solidFill>
                <a:latin typeface="Canva Sans Bold"/>
                <a:ea typeface="Canva Sans Bold"/>
                <a:cs typeface="Canva Sans Bold"/>
                <a:sym typeface="Canva Sans Bold"/>
              </a:rPr>
              <a:t>Kỹ thuật sử dụng</a:t>
            </a:r>
          </a:p>
          <a:p>
            <a:pPr algn="l" marL="914278" indent="-304759" lvl="2">
              <a:lnSpc>
                <a:spcPts val="5598"/>
              </a:lnSpc>
              <a:buFont typeface="Arial"/>
              <a:buChar char="⚬"/>
            </a:pPr>
            <a:r>
              <a:rPr lang="en-US" b="true" sz="3999">
                <a:solidFill>
                  <a:srgbClr val="000000"/>
                </a:solidFill>
                <a:latin typeface="Canva Sans Bold"/>
                <a:ea typeface="Canva Sans Bold"/>
                <a:cs typeface="Canva Sans Bold"/>
                <a:sym typeface="Canva Sans Bold"/>
              </a:rPr>
              <a:t>Phân vùng tương đương</a:t>
            </a:r>
          </a:p>
          <a:p>
            <a:pPr algn="l" marL="914278" indent="-304759" lvl="2">
              <a:lnSpc>
                <a:spcPts val="5598"/>
              </a:lnSpc>
              <a:buFont typeface="Arial"/>
              <a:buChar char="⚬"/>
            </a:pPr>
            <a:r>
              <a:rPr lang="en-US" b="true" sz="3999">
                <a:solidFill>
                  <a:srgbClr val="000000"/>
                </a:solidFill>
                <a:latin typeface="Canva Sans Bold"/>
                <a:ea typeface="Canva Sans Bold"/>
                <a:cs typeface="Canva Sans Bold"/>
                <a:sym typeface="Canva Sans Bold"/>
              </a:rPr>
              <a:t>Chuyển trạng thái</a:t>
            </a:r>
          </a:p>
          <a:p>
            <a:pPr algn="l" marL="914278" indent="-304759" lvl="2">
              <a:lnSpc>
                <a:spcPts val="5598"/>
              </a:lnSpc>
              <a:buFont typeface="Arial"/>
              <a:buChar char="⚬"/>
            </a:pPr>
            <a:r>
              <a:rPr lang="en-US" b="true" sz="3999">
                <a:solidFill>
                  <a:srgbClr val="000000"/>
                </a:solidFill>
                <a:latin typeface="Canva Sans Bold"/>
                <a:ea typeface="Canva Sans Bold"/>
                <a:cs typeface="Canva Sans Bold"/>
                <a:sym typeface="Canva Sans Bold"/>
              </a:rPr>
              <a:t>Bảng quyết định</a:t>
            </a:r>
          </a:p>
          <a:p>
            <a:pPr algn="l" marL="914278" indent="-304759" lvl="2">
              <a:lnSpc>
                <a:spcPts val="5598"/>
              </a:lnSpc>
              <a:buFont typeface="Arial"/>
              <a:buChar char="⚬"/>
            </a:pPr>
            <a:r>
              <a:rPr lang="en-US" b="true" sz="3999">
                <a:solidFill>
                  <a:srgbClr val="000000"/>
                </a:solidFill>
                <a:latin typeface="Canva Sans Bold"/>
                <a:ea typeface="Canva Sans Bold"/>
                <a:cs typeface="Canva Sans Bold"/>
                <a:sym typeface="Canva Sans Bold"/>
              </a:rPr>
              <a:t>Use case testing</a:t>
            </a:r>
          </a:p>
        </p:txBody>
      </p:sp>
      <p:sp>
        <p:nvSpPr>
          <p:cNvPr name="TextBox 3" id="3"/>
          <p:cNvSpPr txBox="true"/>
          <p:nvPr/>
        </p:nvSpPr>
        <p:spPr>
          <a:xfrm rot="0">
            <a:off x="8810206" y="2606678"/>
            <a:ext cx="6911578" cy="696592"/>
          </a:xfrm>
          <a:prstGeom prst="rect">
            <a:avLst/>
          </a:prstGeom>
        </p:spPr>
        <p:txBody>
          <a:bodyPr anchor="t" rtlCol="false" tIns="0" lIns="0" bIns="0" rIns="0">
            <a:spAutoFit/>
          </a:bodyPr>
          <a:lstStyle/>
          <a:p>
            <a:pPr algn="ctr">
              <a:lnSpc>
                <a:spcPts val="5179"/>
              </a:lnSpc>
            </a:pPr>
            <a:r>
              <a:rPr lang="en-US" sz="3699" b="true">
                <a:solidFill>
                  <a:srgbClr val="000000"/>
                </a:solidFill>
                <a:latin typeface="Canva Sans Bold"/>
                <a:ea typeface="Canva Sans Bold"/>
                <a:cs typeface="Canva Sans Bold"/>
                <a:sym typeface="Canva Sans Bold"/>
              </a:rPr>
              <a:t>Ví dụ chi tiết Bảng quyết định:</a:t>
            </a:r>
          </a:p>
        </p:txBody>
      </p:sp>
      <p:grpSp>
        <p:nvGrpSpPr>
          <p:cNvPr name="Group 4" id="4"/>
          <p:cNvGrpSpPr/>
          <p:nvPr/>
        </p:nvGrpSpPr>
        <p:grpSpPr>
          <a:xfrm rot="0">
            <a:off x="6205538" y="3002594"/>
            <a:ext cx="2623718" cy="528247"/>
            <a:chOff x="0" y="0"/>
            <a:chExt cx="3498291" cy="704329"/>
          </a:xfrm>
        </p:grpSpPr>
        <p:sp>
          <p:nvSpPr>
            <p:cNvPr name="Freeform 5" id="5"/>
            <p:cNvSpPr/>
            <p:nvPr/>
          </p:nvSpPr>
          <p:spPr>
            <a:xfrm flipH="false" flipV="false" rot="0">
              <a:off x="20701" y="381"/>
              <a:ext cx="3456940" cy="703453"/>
            </a:xfrm>
            <a:custGeom>
              <a:avLst/>
              <a:gdLst/>
              <a:ahLst/>
              <a:cxnLst/>
              <a:rect r="r" b="b" t="t" l="l"/>
              <a:pathLst>
                <a:path h="703453" w="3456940">
                  <a:moveTo>
                    <a:pt x="0" y="653542"/>
                  </a:moveTo>
                  <a:lnTo>
                    <a:pt x="3447415" y="0"/>
                  </a:lnTo>
                  <a:lnTo>
                    <a:pt x="3456940" y="49911"/>
                  </a:lnTo>
                  <a:lnTo>
                    <a:pt x="9398" y="703453"/>
                  </a:lnTo>
                  <a:close/>
                </a:path>
              </a:pathLst>
            </a:custGeom>
            <a:solidFill>
              <a:srgbClr val="000000"/>
            </a:solidFill>
            <a:ln w="12700">
              <a:solidFill>
                <a:srgbClr val="000000"/>
              </a:solidFill>
            </a:ln>
          </p:spPr>
        </p:sp>
      </p:grpSp>
      <p:grpSp>
        <p:nvGrpSpPr>
          <p:cNvPr name="Group 6" id="6"/>
          <p:cNvGrpSpPr/>
          <p:nvPr/>
        </p:nvGrpSpPr>
        <p:grpSpPr>
          <a:xfrm rot="0">
            <a:off x="1510970" y="4943713"/>
            <a:ext cx="6256049" cy="4327655"/>
            <a:chOff x="0" y="0"/>
            <a:chExt cx="8341398" cy="5770207"/>
          </a:xfrm>
        </p:grpSpPr>
        <p:sp>
          <p:nvSpPr>
            <p:cNvPr name="Freeform 7" id="7"/>
            <p:cNvSpPr/>
            <p:nvPr/>
          </p:nvSpPr>
          <p:spPr>
            <a:xfrm flipH="false" flipV="false" rot="0">
              <a:off x="0" y="0"/>
              <a:ext cx="8341360" cy="5770245"/>
            </a:xfrm>
            <a:custGeom>
              <a:avLst/>
              <a:gdLst/>
              <a:ahLst/>
              <a:cxnLst/>
              <a:rect r="r" b="b" t="t" l="l"/>
              <a:pathLst>
                <a:path h="5770245" w="8341360">
                  <a:moveTo>
                    <a:pt x="0" y="0"/>
                  </a:moveTo>
                  <a:lnTo>
                    <a:pt x="8341360" y="0"/>
                  </a:lnTo>
                  <a:lnTo>
                    <a:pt x="8341360" y="5770245"/>
                  </a:lnTo>
                  <a:lnTo>
                    <a:pt x="0" y="5770245"/>
                  </a:lnTo>
                  <a:lnTo>
                    <a:pt x="0" y="0"/>
                  </a:lnTo>
                  <a:close/>
                </a:path>
              </a:pathLst>
            </a:custGeom>
            <a:blipFill>
              <a:blip r:embed="rId2"/>
              <a:stretch>
                <a:fillRect l="0" t="0" r="0" b="0"/>
              </a:stretch>
            </a:blipFill>
          </p:spPr>
        </p:sp>
      </p:grpSp>
      <p:grpSp>
        <p:nvGrpSpPr>
          <p:cNvPr name="Group 8" id="8"/>
          <p:cNvGrpSpPr/>
          <p:nvPr/>
        </p:nvGrpSpPr>
        <p:grpSpPr>
          <a:xfrm rot="0">
            <a:off x="10929785" y="4062765"/>
            <a:ext cx="5135318" cy="5497154"/>
            <a:chOff x="0" y="0"/>
            <a:chExt cx="6847091" cy="7329538"/>
          </a:xfrm>
        </p:grpSpPr>
        <p:sp>
          <p:nvSpPr>
            <p:cNvPr name="Freeform 9" id="9"/>
            <p:cNvSpPr/>
            <p:nvPr/>
          </p:nvSpPr>
          <p:spPr>
            <a:xfrm flipH="false" flipV="false" rot="0">
              <a:off x="0" y="0"/>
              <a:ext cx="6847078" cy="7329551"/>
            </a:xfrm>
            <a:custGeom>
              <a:avLst/>
              <a:gdLst/>
              <a:ahLst/>
              <a:cxnLst/>
              <a:rect r="r" b="b" t="t" l="l"/>
              <a:pathLst>
                <a:path h="7329551" w="6847078">
                  <a:moveTo>
                    <a:pt x="0" y="0"/>
                  </a:moveTo>
                  <a:lnTo>
                    <a:pt x="6847078" y="0"/>
                  </a:lnTo>
                  <a:lnTo>
                    <a:pt x="6847078" y="7329551"/>
                  </a:lnTo>
                  <a:lnTo>
                    <a:pt x="0" y="7329551"/>
                  </a:lnTo>
                  <a:lnTo>
                    <a:pt x="0" y="0"/>
                  </a:lnTo>
                  <a:close/>
                </a:path>
              </a:pathLst>
            </a:custGeom>
            <a:blipFill>
              <a:blip r:embed="rId3"/>
              <a:stretch>
                <a:fillRect l="0" t="0" r="0" b="0"/>
              </a:stretch>
            </a:blipFill>
          </p:spPr>
        </p:sp>
      </p:grpSp>
      <p:sp>
        <p:nvSpPr>
          <p:cNvPr name="TextBox 10" id="10"/>
          <p:cNvSpPr txBox="true"/>
          <p:nvPr/>
        </p:nvSpPr>
        <p:spPr>
          <a:xfrm rot="0">
            <a:off x="5934304" y="46358"/>
            <a:ext cx="5881449"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Kiểm thử Hộp đen</a:t>
            </a:r>
          </a:p>
        </p:txBody>
      </p:sp>
      <p:sp>
        <p:nvSpPr>
          <p:cNvPr name="TextBox 11" id="11"/>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9693" y="2039293"/>
            <a:ext cx="5081264" cy="5692445"/>
            <a:chOff x="0" y="0"/>
            <a:chExt cx="6775018" cy="7589926"/>
          </a:xfrm>
        </p:grpSpPr>
        <p:sp>
          <p:nvSpPr>
            <p:cNvPr name="Freeform 3" id="3"/>
            <p:cNvSpPr/>
            <p:nvPr/>
          </p:nvSpPr>
          <p:spPr>
            <a:xfrm flipH="false" flipV="false" rot="0">
              <a:off x="0" y="0"/>
              <a:ext cx="6775069" cy="7589901"/>
            </a:xfrm>
            <a:custGeom>
              <a:avLst/>
              <a:gdLst/>
              <a:ahLst/>
              <a:cxnLst/>
              <a:rect r="r" b="b" t="t" l="l"/>
              <a:pathLst>
                <a:path h="7589901" w="6775069">
                  <a:moveTo>
                    <a:pt x="0" y="0"/>
                  </a:moveTo>
                  <a:lnTo>
                    <a:pt x="6775069" y="0"/>
                  </a:lnTo>
                  <a:lnTo>
                    <a:pt x="6775069" y="7589901"/>
                  </a:lnTo>
                  <a:lnTo>
                    <a:pt x="0" y="7589901"/>
                  </a:lnTo>
                  <a:lnTo>
                    <a:pt x="0" y="0"/>
                  </a:lnTo>
                  <a:close/>
                </a:path>
              </a:pathLst>
            </a:custGeom>
            <a:blipFill>
              <a:blip r:embed="rId2"/>
              <a:stretch>
                <a:fillRect l="0" t="0" r="0" b="0"/>
              </a:stretch>
            </a:blipFill>
          </p:spPr>
        </p:sp>
      </p:grpSp>
      <p:grpSp>
        <p:nvGrpSpPr>
          <p:cNvPr name="Group 4" id="4"/>
          <p:cNvGrpSpPr/>
          <p:nvPr/>
        </p:nvGrpSpPr>
        <p:grpSpPr>
          <a:xfrm rot="0">
            <a:off x="9690783" y="2401567"/>
            <a:ext cx="6581394" cy="5225872"/>
            <a:chOff x="0" y="0"/>
            <a:chExt cx="8775192" cy="6967830"/>
          </a:xfrm>
        </p:grpSpPr>
        <p:sp>
          <p:nvSpPr>
            <p:cNvPr name="Freeform 5" id="5"/>
            <p:cNvSpPr/>
            <p:nvPr/>
          </p:nvSpPr>
          <p:spPr>
            <a:xfrm flipH="false" flipV="false" rot="0">
              <a:off x="0" y="0"/>
              <a:ext cx="8775192" cy="6967855"/>
            </a:xfrm>
            <a:custGeom>
              <a:avLst/>
              <a:gdLst/>
              <a:ahLst/>
              <a:cxnLst/>
              <a:rect r="r" b="b" t="t" l="l"/>
              <a:pathLst>
                <a:path h="6967855" w="8775192">
                  <a:moveTo>
                    <a:pt x="0" y="0"/>
                  </a:moveTo>
                  <a:lnTo>
                    <a:pt x="8775192" y="0"/>
                  </a:lnTo>
                  <a:lnTo>
                    <a:pt x="8775192" y="6967855"/>
                  </a:lnTo>
                  <a:lnTo>
                    <a:pt x="0" y="6967855"/>
                  </a:lnTo>
                  <a:lnTo>
                    <a:pt x="0" y="0"/>
                  </a:lnTo>
                  <a:close/>
                </a:path>
              </a:pathLst>
            </a:custGeom>
            <a:blipFill>
              <a:blip r:embed="rId3"/>
              <a:stretch>
                <a:fillRect l="0" t="0" r="0" b="0"/>
              </a:stretch>
            </a:blipFill>
          </p:spPr>
        </p:sp>
      </p:grpSp>
      <p:sp>
        <p:nvSpPr>
          <p:cNvPr name="TextBox 6" id="6"/>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100000">
            <a:off x="7881861" y="1441313"/>
            <a:ext cx="2647226" cy="2696251"/>
          </a:xfrm>
          <a:custGeom>
            <a:avLst/>
            <a:gdLst/>
            <a:ahLst/>
            <a:cxnLst/>
            <a:rect r="r" b="b" t="t" l="l"/>
            <a:pathLst>
              <a:path h="2696251" w="2647226">
                <a:moveTo>
                  <a:pt x="0" y="0"/>
                </a:moveTo>
                <a:lnTo>
                  <a:pt x="2647226" y="0"/>
                </a:lnTo>
                <a:lnTo>
                  <a:pt x="2647226" y="2696252"/>
                </a:lnTo>
                <a:lnTo>
                  <a:pt x="0" y="2696252"/>
                </a:lnTo>
                <a:lnTo>
                  <a:pt x="0" y="0"/>
                </a:lnTo>
                <a:close/>
              </a:path>
            </a:pathLst>
          </a:custGeom>
          <a:blipFill>
            <a:blip r:embed="rId2">
              <a:extLst>
                <a:ext uri="{96DAC541-7B7A-43D3-8B79-37D633B846F1}">
                  <asvg:svgBlip xmlns:asvg="http://schemas.microsoft.com/office/drawing/2016/SVG/main" r:embed="rId3"/>
                </a:ext>
              </a:extLst>
            </a:blip>
            <a:stretch>
              <a:fillRect l="0" t="-150" r="0" b="-150"/>
            </a:stretch>
          </a:blipFill>
        </p:spPr>
      </p:sp>
      <p:sp>
        <p:nvSpPr>
          <p:cNvPr name="TextBox 3" id="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13</a:t>
            </a:r>
          </a:p>
        </p:txBody>
      </p:sp>
      <p:sp>
        <p:nvSpPr>
          <p:cNvPr name="TextBox 4" id="4"/>
          <p:cNvSpPr txBox="true"/>
          <p:nvPr/>
        </p:nvSpPr>
        <p:spPr>
          <a:xfrm rot="0">
            <a:off x="5654173" y="46358"/>
            <a:ext cx="6441729"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Kiểm thử Hộp Trắng</a:t>
            </a:r>
          </a:p>
        </p:txBody>
      </p:sp>
      <p:sp>
        <p:nvSpPr>
          <p:cNvPr name="TextBox 5" id="5"/>
          <p:cNvSpPr txBox="true"/>
          <p:nvPr/>
        </p:nvSpPr>
        <p:spPr>
          <a:xfrm rot="0">
            <a:off x="2664914" y="1427407"/>
            <a:ext cx="5978719" cy="2638425"/>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Dựa trên cấu trúc mã nguồn</a:t>
            </a:r>
          </a:p>
          <a:p>
            <a:pPr algn="l">
              <a:lnSpc>
                <a:spcPts val="4198"/>
              </a:lnSpc>
            </a:pPr>
            <a:r>
              <a:rPr lang="en-US" sz="2999">
                <a:solidFill>
                  <a:srgbClr val="000000"/>
                </a:solidFill>
                <a:latin typeface="Canva Sans"/>
                <a:ea typeface="Canva Sans"/>
                <a:cs typeface="Canva Sans"/>
                <a:sym typeface="Canva Sans"/>
              </a:rPr>
              <a:t>Kiểm tra:</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Nhánh điều kiện</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Luồng logic</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Xử lý ngoại lệ</a:t>
            </a:r>
          </a:p>
        </p:txBody>
      </p:sp>
      <p:sp>
        <p:nvSpPr>
          <p:cNvPr name="TextBox 6" id="6"/>
          <p:cNvSpPr txBox="true"/>
          <p:nvPr/>
        </p:nvSpPr>
        <p:spPr>
          <a:xfrm rot="0">
            <a:off x="11094682" y="1427407"/>
            <a:ext cx="3904421" cy="1590675"/>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Áp dụng cho</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Kiểm thử đơn vị</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Kiểm thử tích hợp</a:t>
            </a:r>
          </a:p>
        </p:txBody>
      </p:sp>
      <p:sp>
        <p:nvSpPr>
          <p:cNvPr name="TextBox 7" id="7"/>
          <p:cNvSpPr txBox="true"/>
          <p:nvPr/>
        </p:nvSpPr>
        <p:spPr>
          <a:xfrm rot="0">
            <a:off x="5582603" y="5328714"/>
            <a:ext cx="7122795" cy="2638425"/>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Phân tích logic bằng White-box</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Xây dựng CFG (Control Flow Graph)</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Tính Cyclomatic Complexity</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Xác định các đường đi độc lập</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Thiết kế Test Case tương ứng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0746" y="115948"/>
            <a:ext cx="4750880" cy="5351945"/>
          </a:xfrm>
          <a:prstGeom prst="rect">
            <a:avLst/>
          </a:prstGeom>
        </p:spPr>
        <p:txBody>
          <a:bodyPr anchor="t" rtlCol="false" tIns="0" lIns="0" bIns="0" rIns="0">
            <a:spAutoFit/>
          </a:bodyPr>
          <a:lstStyle/>
          <a:p>
            <a:pPr algn="l">
              <a:lnSpc>
                <a:spcPts val="2205"/>
              </a:lnSpc>
            </a:pPr>
            <a:r>
              <a:rPr lang="en-US" sz="1575">
                <a:solidFill>
                  <a:srgbClr val="000000"/>
                </a:solidFill>
                <a:latin typeface="Canva Sans"/>
                <a:ea typeface="Canva Sans"/>
                <a:cs typeface="Canva Sans"/>
                <a:sym typeface="Canva Sans"/>
              </a:rPr>
              <a:t>export const getAllProducts = async (req, res) =&gt; {</a:t>
            </a:r>
          </a:p>
          <a:p>
            <a:pPr algn="l">
              <a:lnSpc>
                <a:spcPts val="2205"/>
              </a:lnSpc>
            </a:pPr>
            <a:r>
              <a:rPr lang="en-US" sz="1575">
                <a:solidFill>
                  <a:srgbClr val="000000"/>
                </a:solidFill>
                <a:latin typeface="Canva Sans"/>
                <a:ea typeface="Canva Sans"/>
                <a:cs typeface="Canva Sans"/>
                <a:sym typeface="Canva Sans"/>
              </a:rPr>
              <a:t>  try {                                      // Node 1: Bắt đầu try</a:t>
            </a:r>
          </a:p>
          <a:p>
            <a:pPr algn="l">
              <a:lnSpc>
                <a:spcPts val="2205"/>
              </a:lnSpc>
            </a:pPr>
            <a:r>
              <a:rPr lang="en-US" sz="1575">
                <a:solidFill>
                  <a:srgbClr val="000000"/>
                </a:solidFill>
                <a:latin typeface="Canva Sans"/>
                <a:ea typeface="Canva Sans"/>
                <a:cs typeface="Canva Sans"/>
                <a:sym typeface="Canva Sans"/>
              </a:rPr>
              <a:t>    const products = await Product.findAll({ // Node 2: Gọi DB query</a:t>
            </a:r>
          </a:p>
          <a:p>
            <a:pPr algn="l">
              <a:lnSpc>
                <a:spcPts val="2205"/>
              </a:lnSpc>
            </a:pPr>
            <a:r>
              <a:rPr lang="en-US" sz="1575">
                <a:solidFill>
                  <a:srgbClr val="000000"/>
                </a:solidFill>
                <a:latin typeface="Canva Sans"/>
                <a:ea typeface="Canva Sans"/>
                <a:cs typeface="Canva Sans"/>
                <a:sym typeface="Canva Sans"/>
              </a:rPr>
              <a:t>      include: [{ model: Category, attributes: ["category_name"] }],</a:t>
            </a:r>
          </a:p>
          <a:p>
            <a:pPr algn="l">
              <a:lnSpc>
                <a:spcPts val="2205"/>
              </a:lnSpc>
            </a:pPr>
            <a:r>
              <a:rPr lang="en-US" sz="1575">
                <a:solidFill>
                  <a:srgbClr val="000000"/>
                </a:solidFill>
                <a:latin typeface="Canva Sans"/>
                <a:ea typeface="Canva Sans"/>
                <a:cs typeface="Canva Sans"/>
                <a:sym typeface="Canva Sans"/>
              </a:rPr>
              <a:t>      order: [["created_at", "DESC"]],</a:t>
            </a:r>
          </a:p>
          <a:p>
            <a:pPr algn="l">
              <a:lnSpc>
                <a:spcPts val="2205"/>
              </a:lnSpc>
            </a:pPr>
            <a:r>
              <a:rPr lang="en-US" sz="1575">
                <a:solidFill>
                  <a:srgbClr val="000000"/>
                </a:solidFill>
                <a:latin typeface="Canva Sans"/>
                <a:ea typeface="Canva Sans"/>
                <a:cs typeface="Canva Sans"/>
                <a:sym typeface="Canva Sans"/>
              </a:rPr>
              <a:t>    });</a:t>
            </a:r>
          </a:p>
          <a:p>
            <a:pPr algn="l">
              <a:lnSpc>
                <a:spcPts val="2205"/>
              </a:lnSpc>
            </a:pPr>
            <a:r>
              <a:rPr lang="en-US" sz="1575">
                <a:solidFill>
                  <a:srgbClr val="000000"/>
                </a:solidFill>
                <a:latin typeface="Canva Sans"/>
                <a:ea typeface="Canva Sans"/>
                <a:cs typeface="Canva Sans"/>
                <a:sym typeface="Canva Sans"/>
              </a:rPr>
              <a:t>                                             // Node 3: Trả kết quả thành công</a:t>
            </a:r>
          </a:p>
          <a:p>
            <a:pPr algn="l">
              <a:lnSpc>
                <a:spcPts val="2205"/>
              </a:lnSpc>
            </a:pPr>
            <a:r>
              <a:rPr lang="en-US" sz="1575">
                <a:solidFill>
                  <a:srgbClr val="000000"/>
                </a:solidFill>
                <a:latin typeface="Canva Sans"/>
                <a:ea typeface="Canva Sans"/>
                <a:cs typeface="Canva Sans"/>
                <a:sym typeface="Canva Sans"/>
              </a:rPr>
              <a:t>    res.json(products);</a:t>
            </a:r>
          </a:p>
          <a:p>
            <a:pPr algn="l">
              <a:lnSpc>
                <a:spcPts val="2205"/>
              </a:lnSpc>
            </a:pPr>
            <a:r>
              <a:rPr lang="en-US" sz="1575">
                <a:solidFill>
                  <a:srgbClr val="000000"/>
                </a:solidFill>
                <a:latin typeface="Canva Sans"/>
                <a:ea typeface="Canva Sans"/>
                <a:cs typeface="Canva Sans"/>
                <a:sym typeface="Canva Sans"/>
              </a:rPr>
              <a:t>  } catch (err) {                            // Node 4: Bắt lỗi (catch)</a:t>
            </a:r>
          </a:p>
          <a:p>
            <a:pPr algn="l">
              <a:lnSpc>
                <a:spcPts val="2205"/>
              </a:lnSpc>
            </a:pPr>
            <a:r>
              <a:rPr lang="en-US" sz="1575">
                <a:solidFill>
                  <a:srgbClr val="000000"/>
                </a:solidFill>
                <a:latin typeface="Canva Sans"/>
                <a:ea typeface="Canva Sans"/>
                <a:cs typeface="Canva Sans"/>
                <a:sym typeface="Canva Sans"/>
              </a:rPr>
              <a:t>    console.error(err);                      // Node 5: Log lỗi</a:t>
            </a:r>
          </a:p>
          <a:p>
            <a:pPr algn="l">
              <a:lnSpc>
                <a:spcPts val="2205"/>
              </a:lnSpc>
            </a:pPr>
            <a:r>
              <a:rPr lang="en-US" sz="1575">
                <a:solidFill>
                  <a:srgbClr val="000000"/>
                </a:solidFill>
                <a:latin typeface="Canva Sans"/>
                <a:ea typeface="Canva Sans"/>
                <a:cs typeface="Canva Sans"/>
                <a:sym typeface="Canva Sans"/>
              </a:rPr>
              <a:t>    res.status(500).json({ message: "Lỗi khi lấy sản phẩm" }); // Node 6: Trả lỗi 500</a:t>
            </a:r>
          </a:p>
          <a:p>
            <a:pPr algn="l">
              <a:lnSpc>
                <a:spcPts val="2205"/>
              </a:lnSpc>
            </a:pPr>
            <a:r>
              <a:rPr lang="en-US" sz="1575">
                <a:solidFill>
                  <a:srgbClr val="000000"/>
                </a:solidFill>
                <a:latin typeface="Canva Sans"/>
                <a:ea typeface="Canva Sans"/>
                <a:cs typeface="Canva Sans"/>
                <a:sym typeface="Canva Sans"/>
              </a:rPr>
              <a:t>  }                                          // Node 7: Kết thúc hàm</a:t>
            </a:r>
          </a:p>
          <a:p>
            <a:pPr algn="l">
              <a:lnSpc>
                <a:spcPts val="2205"/>
              </a:lnSpc>
            </a:pPr>
            <a:r>
              <a:rPr lang="en-US" sz="1575">
                <a:solidFill>
                  <a:srgbClr val="000000"/>
                </a:solidFill>
                <a:latin typeface="Canva Sans"/>
                <a:ea typeface="Canva Sans"/>
                <a:cs typeface="Canva Sans"/>
                <a:sym typeface="Canva Sans"/>
              </a:rPr>
              <a:t>};</a:t>
            </a:r>
          </a:p>
        </p:txBody>
      </p:sp>
      <p:grpSp>
        <p:nvGrpSpPr>
          <p:cNvPr name="Group 3" id="3"/>
          <p:cNvGrpSpPr/>
          <p:nvPr/>
        </p:nvGrpSpPr>
        <p:grpSpPr>
          <a:xfrm rot="0">
            <a:off x="4912576" y="1504121"/>
            <a:ext cx="3822783" cy="466916"/>
            <a:chOff x="0" y="0"/>
            <a:chExt cx="5097043" cy="622554"/>
          </a:xfrm>
        </p:grpSpPr>
        <p:sp>
          <p:nvSpPr>
            <p:cNvPr name="Freeform 4" id="4"/>
            <p:cNvSpPr/>
            <p:nvPr/>
          </p:nvSpPr>
          <p:spPr>
            <a:xfrm flipH="false" flipV="false" rot="0">
              <a:off x="22479" y="127"/>
              <a:ext cx="5052060" cy="622300"/>
            </a:xfrm>
            <a:custGeom>
              <a:avLst/>
              <a:gdLst/>
              <a:ahLst/>
              <a:cxnLst/>
              <a:rect r="r" b="b" t="t" l="l"/>
              <a:pathLst>
                <a:path h="622300" w="5052060">
                  <a:moveTo>
                    <a:pt x="0" y="571754"/>
                  </a:moveTo>
                  <a:lnTo>
                    <a:pt x="5046345" y="0"/>
                  </a:lnTo>
                  <a:lnTo>
                    <a:pt x="5052060" y="50419"/>
                  </a:lnTo>
                  <a:lnTo>
                    <a:pt x="5842" y="622300"/>
                  </a:lnTo>
                  <a:close/>
                </a:path>
              </a:pathLst>
            </a:custGeom>
            <a:solidFill>
              <a:srgbClr val="000000"/>
            </a:solidFill>
            <a:ln w="12700">
              <a:solidFill>
                <a:srgbClr val="000000"/>
              </a:solidFill>
            </a:ln>
          </p:spPr>
        </p:sp>
      </p:grpSp>
      <p:sp>
        <p:nvSpPr>
          <p:cNvPr name="TextBox 5" id="5"/>
          <p:cNvSpPr txBox="true"/>
          <p:nvPr/>
        </p:nvSpPr>
        <p:spPr>
          <a:xfrm rot="0">
            <a:off x="8716308" y="129349"/>
            <a:ext cx="5855865" cy="2974515"/>
          </a:xfrm>
          <a:prstGeom prst="rect">
            <a:avLst/>
          </a:prstGeom>
        </p:spPr>
        <p:txBody>
          <a:bodyPr anchor="t" rtlCol="false" tIns="0" lIns="0" bIns="0" rIns="0">
            <a:spAutoFit/>
          </a:bodyPr>
          <a:lstStyle/>
          <a:p>
            <a:pPr algn="l">
              <a:lnSpc>
                <a:spcPts val="2357"/>
              </a:lnSpc>
            </a:pPr>
            <a:r>
              <a:rPr lang="en-US" sz="1684">
                <a:solidFill>
                  <a:srgbClr val="000000"/>
                </a:solidFill>
                <a:latin typeface="Canva Sans"/>
                <a:ea typeface="Canva Sans"/>
                <a:cs typeface="Canva Sans"/>
                <a:sym typeface="Canva Sans"/>
              </a:rPr>
              <a:t>Các nút và cạnh:</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1 (try) → Node 2 (query)</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2 → Node 3 (res.json success)</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3 → Node 7 (End)</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1 → Node 4 (nếu có exception trong try)</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4 → Node 5 (console.error)</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5 → Node 6 (res.status 500)</a:t>
            </a:r>
          </a:p>
          <a:p>
            <a:pPr algn="l" marL="384988" indent="-128329" lvl="2">
              <a:lnSpc>
                <a:spcPts val="2357"/>
              </a:lnSpc>
              <a:buFont typeface="Arial"/>
              <a:buChar char="⚬"/>
            </a:pPr>
            <a:r>
              <a:rPr lang="en-US" sz="1684">
                <a:solidFill>
                  <a:srgbClr val="000000"/>
                </a:solidFill>
                <a:latin typeface="Canva Sans"/>
                <a:ea typeface="Canva Sans"/>
                <a:cs typeface="Canva Sans"/>
                <a:sym typeface="Canva Sans"/>
              </a:rPr>
              <a:t>Node 6 → Node 7 (End)</a:t>
            </a:r>
          </a:p>
          <a:p>
            <a:pPr algn="l" marL="384988" indent="-128329" lvl="2">
              <a:lnSpc>
                <a:spcPts val="2357"/>
              </a:lnSpc>
            </a:pPr>
            <a:r>
              <a:rPr lang="en-US" sz="1684">
                <a:solidFill>
                  <a:srgbClr val="000000"/>
                </a:solidFill>
                <a:latin typeface="Canva Sans"/>
                <a:ea typeface="Canva Sans"/>
                <a:cs typeface="Canva Sans"/>
                <a:sym typeface="Canva Sans"/>
              </a:rPr>
              <a:t>Số cạnh (E): 6 Số nút (N): 7 Số thành phần liên thông (P): 1</a:t>
            </a:r>
          </a:p>
          <a:p>
            <a:pPr algn="l" marL="384988" indent="-128329" lvl="2">
              <a:lnSpc>
                <a:spcPts val="2357"/>
              </a:lnSpc>
            </a:pPr>
          </a:p>
        </p:txBody>
      </p:sp>
      <p:grpSp>
        <p:nvGrpSpPr>
          <p:cNvPr name="Group 6" id="6"/>
          <p:cNvGrpSpPr/>
          <p:nvPr/>
        </p:nvGrpSpPr>
        <p:grpSpPr>
          <a:xfrm rot="0">
            <a:off x="13911377" y="2147087"/>
            <a:ext cx="1531696" cy="1531696"/>
            <a:chOff x="0" y="0"/>
            <a:chExt cx="2042262" cy="2042262"/>
          </a:xfrm>
        </p:grpSpPr>
        <p:sp>
          <p:nvSpPr>
            <p:cNvPr name="Freeform 7" id="7"/>
            <p:cNvSpPr/>
            <p:nvPr/>
          </p:nvSpPr>
          <p:spPr>
            <a:xfrm flipH="false" flipV="false" rot="0">
              <a:off x="7493" y="7493"/>
              <a:ext cx="2027301" cy="2027301"/>
            </a:xfrm>
            <a:custGeom>
              <a:avLst/>
              <a:gdLst/>
              <a:ahLst/>
              <a:cxnLst/>
              <a:rect r="r" b="b" t="t" l="l"/>
              <a:pathLst>
                <a:path h="2027301" w="2027301">
                  <a:moveTo>
                    <a:pt x="35814" y="0"/>
                  </a:moveTo>
                  <a:lnTo>
                    <a:pt x="2027301" y="1991360"/>
                  </a:lnTo>
                  <a:lnTo>
                    <a:pt x="1991360" y="2027301"/>
                  </a:lnTo>
                  <a:lnTo>
                    <a:pt x="0" y="35814"/>
                  </a:lnTo>
                  <a:close/>
                </a:path>
              </a:pathLst>
            </a:custGeom>
            <a:solidFill>
              <a:srgbClr val="000000"/>
            </a:solidFill>
            <a:ln w="12700">
              <a:solidFill>
                <a:srgbClr val="000000"/>
              </a:solidFill>
            </a:ln>
          </p:spPr>
        </p:sp>
      </p:grpSp>
      <p:sp>
        <p:nvSpPr>
          <p:cNvPr name="TextBox 8" id="8"/>
          <p:cNvSpPr txBox="true"/>
          <p:nvPr/>
        </p:nvSpPr>
        <p:spPr>
          <a:xfrm rot="0">
            <a:off x="7136063" y="3313405"/>
            <a:ext cx="4898536" cy="2585676"/>
          </a:xfrm>
          <a:prstGeom prst="rect">
            <a:avLst/>
          </a:prstGeom>
        </p:spPr>
        <p:txBody>
          <a:bodyPr anchor="t" rtlCol="false" tIns="0" lIns="0" bIns="0" rIns="0">
            <a:spAutoFit/>
          </a:bodyPr>
          <a:lstStyle/>
          <a:p>
            <a:pPr algn="l">
              <a:lnSpc>
                <a:spcPts val="3432"/>
              </a:lnSpc>
            </a:pPr>
            <a:r>
              <a:rPr lang="en-US" sz="2451">
                <a:solidFill>
                  <a:srgbClr val="000000"/>
                </a:solidFill>
                <a:latin typeface="Canva Sans"/>
                <a:ea typeface="Canva Sans"/>
                <a:cs typeface="Canva Sans"/>
                <a:sym typeface="Canva Sans"/>
              </a:rPr>
              <a:t>Công thức: M = E - N + 2P → M = 6 - 7 + 2×1 = 2</a:t>
            </a:r>
          </a:p>
          <a:p>
            <a:pPr algn="l">
              <a:lnSpc>
                <a:spcPts val="3432"/>
              </a:lnSpc>
            </a:pPr>
            <a:r>
              <a:rPr lang="en-US" sz="2451">
                <a:solidFill>
                  <a:srgbClr val="000000"/>
                </a:solidFill>
                <a:latin typeface="Canva Sans"/>
                <a:ea typeface="Canva Sans"/>
                <a:cs typeface="Canva Sans"/>
                <a:sym typeface="Canva Sans"/>
              </a:rPr>
              <a:t>Ý nghĩa: Có 2 đường đi độc lập trong hàm → cần ít nhất 2 test case để bao phủ toàn bộ logic.</a:t>
            </a:r>
          </a:p>
          <a:p>
            <a:pPr algn="l">
              <a:lnSpc>
                <a:spcPts val="3432"/>
              </a:lnSpc>
            </a:pPr>
          </a:p>
        </p:txBody>
      </p:sp>
      <p:grpSp>
        <p:nvGrpSpPr>
          <p:cNvPr name="Group 9" id="9"/>
          <p:cNvGrpSpPr/>
          <p:nvPr/>
        </p:nvGrpSpPr>
        <p:grpSpPr>
          <a:xfrm rot="0">
            <a:off x="12015549" y="4928025"/>
            <a:ext cx="1583827" cy="1647815"/>
            <a:chOff x="0" y="0"/>
            <a:chExt cx="2111769" cy="2197087"/>
          </a:xfrm>
        </p:grpSpPr>
        <p:sp>
          <p:nvSpPr>
            <p:cNvPr name="Freeform 10" id="10"/>
            <p:cNvSpPr/>
            <p:nvPr/>
          </p:nvSpPr>
          <p:spPr>
            <a:xfrm flipH="false" flipV="false" rot="0">
              <a:off x="7112" y="7747"/>
              <a:ext cx="2097532" cy="2181479"/>
            </a:xfrm>
            <a:custGeom>
              <a:avLst/>
              <a:gdLst/>
              <a:ahLst/>
              <a:cxnLst/>
              <a:rect r="r" b="b" t="t" l="l"/>
              <a:pathLst>
                <a:path h="2181479" w="2097532">
                  <a:moveTo>
                    <a:pt x="2060956" y="2181479"/>
                  </a:moveTo>
                  <a:lnTo>
                    <a:pt x="0" y="35306"/>
                  </a:lnTo>
                  <a:lnTo>
                    <a:pt x="36576" y="0"/>
                  </a:lnTo>
                  <a:lnTo>
                    <a:pt x="2097532" y="2146300"/>
                  </a:lnTo>
                  <a:close/>
                </a:path>
              </a:pathLst>
            </a:custGeom>
            <a:solidFill>
              <a:srgbClr val="000000"/>
            </a:solidFill>
            <a:ln w="12700">
              <a:solidFill>
                <a:srgbClr val="000000"/>
              </a:solidFill>
            </a:ln>
          </p:spPr>
        </p:sp>
      </p:grpSp>
      <p:sp>
        <p:nvSpPr>
          <p:cNvPr name="TextBox 11" id="11"/>
          <p:cNvSpPr txBox="true"/>
          <p:nvPr/>
        </p:nvSpPr>
        <p:spPr>
          <a:xfrm rot="0">
            <a:off x="2112054" y="8775068"/>
            <a:ext cx="16175946" cy="1582417"/>
          </a:xfrm>
          <a:prstGeom prst="rect">
            <a:avLst/>
          </a:prstGeom>
        </p:spPr>
        <p:txBody>
          <a:bodyPr anchor="t" rtlCol="false" tIns="0" lIns="0" bIns="0" rIns="0">
            <a:spAutoFit/>
          </a:bodyPr>
          <a:lstStyle/>
          <a:p>
            <a:pPr algn="ctr">
              <a:lnSpc>
                <a:spcPts val="3078"/>
              </a:lnSpc>
            </a:pPr>
            <a:r>
              <a:rPr lang="en-US" sz="2199">
                <a:solidFill>
                  <a:srgbClr val="000000"/>
                </a:solidFill>
                <a:latin typeface="Canva Sans"/>
                <a:ea typeface="Canva Sans"/>
                <a:cs typeface="Canva Sans"/>
                <a:sym typeface="Canva Sans"/>
              </a:rPr>
              <a:t>Đường 1 (Thành công): 1 → 2 → 3 → 7 → Query thành công → trả về danh sách sản phẩm.</a:t>
            </a:r>
          </a:p>
          <a:p>
            <a:pPr algn="ctr" marL="502798" indent="-167599" lvl="2">
              <a:lnSpc>
                <a:spcPts val="3078"/>
              </a:lnSpc>
              <a:buFont typeface="Arial"/>
              <a:buChar char="⚬"/>
            </a:pPr>
            <a:r>
              <a:rPr lang="en-US" sz="2199">
                <a:solidFill>
                  <a:srgbClr val="000000"/>
                </a:solidFill>
                <a:latin typeface="Canva Sans"/>
                <a:ea typeface="Canva Sans"/>
                <a:cs typeface="Canva Sans"/>
                <a:sym typeface="Canva Sans"/>
              </a:rPr>
              <a:t>Đường 2 (Lỗi): 1 → 4 → 5 → 6 → 7 → Có lỗi xảy ra trong quá trình query (ví dụ: DB disconnect, lỗi model, v.v.) → bắt catch → trả lỗi 500.</a:t>
            </a:r>
          </a:p>
          <a:p>
            <a:pPr algn="ctr" marL="502798" indent="-167599" lvl="2">
              <a:lnSpc>
                <a:spcPts val="3078"/>
              </a:lnSpc>
            </a:pPr>
          </a:p>
        </p:txBody>
      </p:sp>
      <p:grpSp>
        <p:nvGrpSpPr>
          <p:cNvPr name="Group 12" id="12"/>
          <p:cNvGrpSpPr/>
          <p:nvPr/>
        </p:nvGrpSpPr>
        <p:grpSpPr>
          <a:xfrm rot="0">
            <a:off x="9627060" y="6595443"/>
            <a:ext cx="592007" cy="2274875"/>
            <a:chOff x="0" y="0"/>
            <a:chExt cx="789343" cy="3033166"/>
          </a:xfrm>
        </p:grpSpPr>
        <p:sp>
          <p:nvSpPr>
            <p:cNvPr name="Freeform 13" id="13"/>
            <p:cNvSpPr/>
            <p:nvPr/>
          </p:nvSpPr>
          <p:spPr>
            <a:xfrm flipH="false" flipV="false" rot="0">
              <a:off x="762" y="19304"/>
              <a:ext cx="787781" cy="2994533"/>
            </a:xfrm>
            <a:custGeom>
              <a:avLst/>
              <a:gdLst/>
              <a:ahLst/>
              <a:cxnLst/>
              <a:rect r="r" b="b" t="t" l="l"/>
              <a:pathLst>
                <a:path h="2994533" w="787781">
                  <a:moveTo>
                    <a:pt x="49276" y="0"/>
                  </a:moveTo>
                  <a:lnTo>
                    <a:pt x="787781" y="2982341"/>
                  </a:lnTo>
                  <a:lnTo>
                    <a:pt x="738505" y="2994533"/>
                  </a:lnTo>
                  <a:lnTo>
                    <a:pt x="0" y="12192"/>
                  </a:lnTo>
                  <a:close/>
                </a:path>
              </a:pathLst>
            </a:custGeom>
            <a:solidFill>
              <a:srgbClr val="000000"/>
            </a:solidFill>
            <a:ln w="12700">
              <a:solidFill>
                <a:srgbClr val="000000"/>
              </a:solidFill>
            </a:ln>
          </p:spPr>
        </p:sp>
      </p:grpSp>
      <p:sp>
        <p:nvSpPr>
          <p:cNvPr name="Freeform 14" id="14"/>
          <p:cNvSpPr/>
          <p:nvPr/>
        </p:nvSpPr>
        <p:spPr>
          <a:xfrm flipH="false" flipV="false" rot="193800">
            <a:off x="6739128" y="7036718"/>
            <a:ext cx="1734950" cy="1767078"/>
          </a:xfrm>
          <a:custGeom>
            <a:avLst/>
            <a:gdLst/>
            <a:ahLst/>
            <a:cxnLst/>
            <a:rect r="r" b="b" t="t" l="l"/>
            <a:pathLst>
              <a:path h="1767078" w="1734950">
                <a:moveTo>
                  <a:pt x="0" y="0"/>
                </a:moveTo>
                <a:lnTo>
                  <a:pt x="1734950" y="0"/>
                </a:lnTo>
                <a:lnTo>
                  <a:pt x="1734950" y="1767078"/>
                </a:lnTo>
                <a:lnTo>
                  <a:pt x="0" y="1767078"/>
                </a:lnTo>
                <a:lnTo>
                  <a:pt x="0" y="0"/>
                </a:lnTo>
                <a:close/>
              </a:path>
            </a:pathLst>
          </a:custGeom>
          <a:blipFill>
            <a:blip r:embed="rId2">
              <a:extLst>
                <a:ext uri="{96DAC541-7B7A-43D3-8B79-37D633B846F1}">
                  <asvg:svgBlip xmlns:asvg="http://schemas.microsoft.com/office/drawing/2016/SVG/main" r:embed="rId3"/>
                </a:ext>
              </a:extLst>
            </a:blip>
            <a:stretch>
              <a:fillRect l="-104" t="0" r="-104" b="0"/>
            </a:stretch>
          </a:blipFill>
        </p:spPr>
      </p:sp>
      <p:grpSp>
        <p:nvGrpSpPr>
          <p:cNvPr name="Group 15" id="15"/>
          <p:cNvGrpSpPr/>
          <p:nvPr/>
        </p:nvGrpSpPr>
        <p:grpSpPr>
          <a:xfrm rot="0">
            <a:off x="13378348" y="3744516"/>
            <a:ext cx="4091340" cy="4309129"/>
            <a:chOff x="0" y="0"/>
            <a:chExt cx="5455120" cy="5745505"/>
          </a:xfrm>
        </p:grpSpPr>
        <p:sp>
          <p:nvSpPr>
            <p:cNvPr name="Freeform 16" id="16"/>
            <p:cNvSpPr/>
            <p:nvPr/>
          </p:nvSpPr>
          <p:spPr>
            <a:xfrm flipH="false" flipV="false" rot="0">
              <a:off x="0" y="0"/>
              <a:ext cx="5455158" cy="5745480"/>
            </a:xfrm>
            <a:custGeom>
              <a:avLst/>
              <a:gdLst/>
              <a:ahLst/>
              <a:cxnLst/>
              <a:rect r="r" b="b" t="t" l="l"/>
              <a:pathLst>
                <a:path h="5745480" w="5455158">
                  <a:moveTo>
                    <a:pt x="0" y="0"/>
                  </a:moveTo>
                  <a:lnTo>
                    <a:pt x="5455158" y="0"/>
                  </a:lnTo>
                  <a:lnTo>
                    <a:pt x="5455158" y="5745480"/>
                  </a:lnTo>
                  <a:lnTo>
                    <a:pt x="0" y="5745480"/>
                  </a:lnTo>
                  <a:lnTo>
                    <a:pt x="0" y="0"/>
                  </a:lnTo>
                  <a:close/>
                </a:path>
              </a:pathLst>
            </a:custGeom>
            <a:blipFill>
              <a:blip r:embed="rId4"/>
              <a:stretch>
                <a:fillRect l="0" t="0" r="0" b="0"/>
              </a:stretch>
            </a:blipFill>
          </p:spPr>
        </p:sp>
      </p:grpSp>
      <p:grpSp>
        <p:nvGrpSpPr>
          <p:cNvPr name="Group 17" id="17"/>
          <p:cNvGrpSpPr/>
          <p:nvPr/>
        </p:nvGrpSpPr>
        <p:grpSpPr>
          <a:xfrm rot="0">
            <a:off x="180746" y="5546331"/>
            <a:ext cx="6472876" cy="3304937"/>
            <a:chOff x="0" y="0"/>
            <a:chExt cx="8630501" cy="4406582"/>
          </a:xfrm>
        </p:grpSpPr>
        <p:sp>
          <p:nvSpPr>
            <p:cNvPr name="Freeform 18" id="18"/>
            <p:cNvSpPr/>
            <p:nvPr/>
          </p:nvSpPr>
          <p:spPr>
            <a:xfrm flipH="false" flipV="false" rot="0">
              <a:off x="0" y="0"/>
              <a:ext cx="8630539" cy="4406519"/>
            </a:xfrm>
            <a:custGeom>
              <a:avLst/>
              <a:gdLst/>
              <a:ahLst/>
              <a:cxnLst/>
              <a:rect r="r" b="b" t="t" l="l"/>
              <a:pathLst>
                <a:path h="4406519" w="8630539">
                  <a:moveTo>
                    <a:pt x="0" y="0"/>
                  </a:moveTo>
                  <a:lnTo>
                    <a:pt x="8630539" y="0"/>
                  </a:lnTo>
                  <a:lnTo>
                    <a:pt x="8630539" y="4406519"/>
                  </a:lnTo>
                  <a:lnTo>
                    <a:pt x="0" y="4406519"/>
                  </a:lnTo>
                  <a:lnTo>
                    <a:pt x="0" y="0"/>
                  </a:lnTo>
                  <a:close/>
                </a:path>
              </a:pathLst>
            </a:custGeom>
            <a:blipFill>
              <a:blip r:embed="rId5"/>
              <a:stretch>
                <a:fillRect l="0" t="0" r="0" b="-1"/>
              </a:stretch>
            </a:blipFill>
          </p:spPr>
        </p:sp>
      </p:grpSp>
      <p:sp>
        <p:nvSpPr>
          <p:cNvPr name="TextBox 19" id="19"/>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15</a:t>
            </a:r>
          </a:p>
        </p:txBody>
      </p:sp>
      <p:sp>
        <p:nvSpPr>
          <p:cNvPr name="TextBox 3" id="3"/>
          <p:cNvSpPr txBox="true"/>
          <p:nvPr/>
        </p:nvSpPr>
        <p:spPr>
          <a:xfrm rot="0">
            <a:off x="4343581" y="838200"/>
            <a:ext cx="9600848"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KIỂM THỬ ĐƠN VỊ, TÍCH HỢP </a:t>
            </a:r>
          </a:p>
        </p:txBody>
      </p:sp>
      <p:sp>
        <p:nvSpPr>
          <p:cNvPr name="TextBox 4" id="4"/>
          <p:cNvSpPr txBox="true"/>
          <p:nvPr/>
        </p:nvSpPr>
        <p:spPr>
          <a:xfrm rot="0">
            <a:off x="1028700" y="2315937"/>
            <a:ext cx="15669520" cy="3686175"/>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Kiểm thử đơn vị &amp; tích hợp</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Unit Test: Kiểm tra từng hàm/service riêng lẻ: Jest</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Integration Test: Kiểm tra toàn bộ luồng (route → middleware → service → database)</a:t>
            </a:r>
          </a:p>
          <a:p>
            <a:pPr algn="l" marL="685676" indent="-228559" lvl="2">
              <a:lnSpc>
                <a:spcPts val="4198"/>
              </a:lnSpc>
            </a:pPr>
            <a:r>
              <a:rPr lang="en-US" sz="2999">
                <a:solidFill>
                  <a:srgbClr val="000000"/>
                </a:solidFill>
                <a:latin typeface="Canva Sans"/>
                <a:ea typeface="Canva Sans"/>
                <a:cs typeface="Canva Sans"/>
                <a:sym typeface="Canva Sans"/>
              </a:rPr>
              <a:t>Jest + Supertest</a:t>
            </a:r>
          </a:p>
          <a:p>
            <a:pPr algn="l" marL="685676" indent="-228559" lvl="2">
              <a:lnSpc>
                <a:spcPts val="4198"/>
              </a:lnSpc>
            </a:pPr>
            <a:r>
              <a:rPr lang="en-US" b="true" sz="2999">
                <a:solidFill>
                  <a:srgbClr val="000000"/>
                </a:solidFill>
                <a:latin typeface="Canva Sans Bold"/>
                <a:ea typeface="Canva Sans Bold"/>
                <a:cs typeface="Canva Sans Bold"/>
                <a:sym typeface="Canva Sans Bold"/>
              </a:rPr>
              <a:t>Mục tiêu:</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Phát hiện lỗi sớm</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Đảm bảo module hoạt động đúng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19946" y="2196998"/>
            <a:ext cx="6639354" cy="2794064"/>
            <a:chOff x="0" y="0"/>
            <a:chExt cx="8852472" cy="3725418"/>
          </a:xfrm>
        </p:grpSpPr>
        <p:sp>
          <p:nvSpPr>
            <p:cNvPr name="Freeform 3" id="3"/>
            <p:cNvSpPr/>
            <p:nvPr/>
          </p:nvSpPr>
          <p:spPr>
            <a:xfrm flipH="false" flipV="false" rot="0">
              <a:off x="0" y="0"/>
              <a:ext cx="8852535" cy="3725418"/>
            </a:xfrm>
            <a:custGeom>
              <a:avLst/>
              <a:gdLst/>
              <a:ahLst/>
              <a:cxnLst/>
              <a:rect r="r" b="b" t="t" l="l"/>
              <a:pathLst>
                <a:path h="3725418" w="8852535">
                  <a:moveTo>
                    <a:pt x="0" y="0"/>
                  </a:moveTo>
                  <a:lnTo>
                    <a:pt x="8852535" y="0"/>
                  </a:lnTo>
                  <a:lnTo>
                    <a:pt x="8852535" y="3725418"/>
                  </a:lnTo>
                  <a:lnTo>
                    <a:pt x="0" y="3725418"/>
                  </a:lnTo>
                  <a:lnTo>
                    <a:pt x="0" y="0"/>
                  </a:lnTo>
                  <a:close/>
                </a:path>
              </a:pathLst>
            </a:custGeom>
            <a:blipFill>
              <a:blip r:embed="rId2"/>
              <a:stretch>
                <a:fillRect l="0" t="0" r="0" b="0"/>
              </a:stretch>
            </a:blipFill>
          </p:spPr>
        </p:sp>
      </p:grpSp>
      <p:sp>
        <p:nvSpPr>
          <p:cNvPr name="TextBox 4" id="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16</a:t>
            </a:r>
          </a:p>
        </p:txBody>
      </p:sp>
      <p:sp>
        <p:nvSpPr>
          <p:cNvPr name="TextBox 5" id="5"/>
          <p:cNvSpPr txBox="true"/>
          <p:nvPr/>
        </p:nvSpPr>
        <p:spPr>
          <a:xfrm rot="0">
            <a:off x="5422630" y="838200"/>
            <a:ext cx="7442749"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KIỂM THỬ TỰ ĐỘNG CI</a:t>
            </a:r>
          </a:p>
        </p:txBody>
      </p:sp>
      <p:sp>
        <p:nvSpPr>
          <p:cNvPr name="TextBox 6" id="6"/>
          <p:cNvSpPr txBox="true"/>
          <p:nvPr/>
        </p:nvSpPr>
        <p:spPr>
          <a:xfrm rot="0">
            <a:off x="1725301" y="2082698"/>
            <a:ext cx="7752159" cy="2280923"/>
          </a:xfrm>
          <a:prstGeom prst="rect">
            <a:avLst/>
          </a:prstGeom>
        </p:spPr>
        <p:txBody>
          <a:bodyPr anchor="t" rtlCol="false" tIns="0" lIns="0" bIns="0" rIns="0">
            <a:spAutoFit/>
          </a:bodyPr>
          <a:lstStyle/>
          <a:p>
            <a:pPr algn="l">
              <a:lnSpc>
                <a:spcPts val="4479"/>
              </a:lnSpc>
            </a:pPr>
            <a:r>
              <a:rPr lang="en-US" sz="3199" b="true">
                <a:solidFill>
                  <a:srgbClr val="000000"/>
                </a:solidFill>
                <a:latin typeface="Canva Sans Bold"/>
                <a:ea typeface="Canva Sans Bold"/>
                <a:cs typeface="Canva Sans Bold"/>
                <a:sym typeface="Canva Sans Bold"/>
              </a:rPr>
              <a:t>Kiểm thử tự động CI</a:t>
            </a:r>
          </a:p>
          <a:p>
            <a:pPr algn="l" marL="731396" indent="-243799" lvl="2">
              <a:lnSpc>
                <a:spcPts val="4479"/>
              </a:lnSpc>
              <a:buFont typeface="Arial"/>
              <a:buChar char="⚬"/>
            </a:pPr>
            <a:r>
              <a:rPr lang="en-US" sz="3199">
                <a:solidFill>
                  <a:srgbClr val="000000"/>
                </a:solidFill>
                <a:latin typeface="Canva Sans"/>
                <a:ea typeface="Canva Sans"/>
                <a:cs typeface="Canva Sans"/>
                <a:sym typeface="Canva Sans"/>
              </a:rPr>
              <a:t>Tự động chạy test khi push code</a:t>
            </a:r>
          </a:p>
          <a:p>
            <a:pPr algn="l" marL="731396" indent="-243799" lvl="2">
              <a:lnSpc>
                <a:spcPts val="4479"/>
              </a:lnSpc>
              <a:buFont typeface="Arial"/>
              <a:buChar char="⚬"/>
            </a:pPr>
            <a:r>
              <a:rPr lang="en-US" sz="3199">
                <a:solidFill>
                  <a:srgbClr val="000000"/>
                </a:solidFill>
                <a:latin typeface="Canva Sans"/>
                <a:ea typeface="Canva Sans"/>
                <a:cs typeface="Canva Sans"/>
                <a:sym typeface="Canva Sans"/>
              </a:rPr>
              <a:t>Ngăn deploy khi test thất bại</a:t>
            </a:r>
          </a:p>
          <a:p>
            <a:pPr algn="l" marL="731396" indent="-243799" lvl="2">
              <a:lnSpc>
                <a:spcPts val="4479"/>
              </a:lnSpc>
              <a:buFont typeface="Arial"/>
              <a:buChar char="⚬"/>
            </a:pPr>
            <a:r>
              <a:rPr lang="en-US" sz="3199">
                <a:solidFill>
                  <a:srgbClr val="000000"/>
                </a:solidFill>
                <a:latin typeface="Canva Sans"/>
                <a:ea typeface="Canva Sans"/>
                <a:cs typeface="Canva Sans"/>
                <a:sym typeface="Canva Sans"/>
              </a:rPr>
              <a:t>Giảm lỗi trên môi trường production</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17</a:t>
            </a:r>
          </a:p>
        </p:txBody>
      </p:sp>
      <p:sp>
        <p:nvSpPr>
          <p:cNvPr name="TextBox 3" id="3"/>
          <p:cNvSpPr txBox="true"/>
          <p:nvPr/>
        </p:nvSpPr>
        <p:spPr>
          <a:xfrm rot="0">
            <a:off x="1028700" y="2279333"/>
            <a:ext cx="11196018" cy="4251589"/>
          </a:xfrm>
          <a:prstGeom prst="rect">
            <a:avLst/>
          </a:prstGeom>
        </p:spPr>
        <p:txBody>
          <a:bodyPr anchor="t" rtlCol="false" tIns="0" lIns="0" bIns="0" rIns="0">
            <a:spAutoFit/>
          </a:bodyPr>
          <a:lstStyle/>
          <a:p>
            <a:pPr algn="l">
              <a:lnSpc>
                <a:spcPts val="4206"/>
              </a:lnSpc>
            </a:pPr>
            <a:r>
              <a:rPr lang="en-US" sz="3004" b="true">
                <a:solidFill>
                  <a:srgbClr val="000000"/>
                </a:solidFill>
                <a:latin typeface="Canva Sans Bold"/>
                <a:ea typeface="Canva Sans Bold"/>
                <a:cs typeface="Canva Sans Bold"/>
                <a:sym typeface="Canva Sans Bold"/>
              </a:rPr>
              <a:t>Kiểm thử chức năng (Unit, Integration, System, Acceptance)</a:t>
            </a:r>
          </a:p>
          <a:p>
            <a:pPr algn="l">
              <a:lnSpc>
                <a:spcPts val="4206"/>
              </a:lnSpc>
            </a:pPr>
            <a:r>
              <a:rPr lang="en-US" sz="3004" b="true">
                <a:solidFill>
                  <a:srgbClr val="000000"/>
                </a:solidFill>
                <a:latin typeface="Canva Sans Bold"/>
                <a:ea typeface="Canva Sans Bold"/>
                <a:cs typeface="Canva Sans Bold"/>
                <a:sym typeface="Canva Sans Bold"/>
              </a:rPr>
              <a:t>Kiểm thử tự động:</a:t>
            </a:r>
          </a:p>
          <a:p>
            <a:pPr algn="l" marL="686971" indent="-228990" lvl="2">
              <a:lnSpc>
                <a:spcPts val="4206"/>
              </a:lnSpc>
              <a:buFont typeface="Arial"/>
              <a:buChar char="⚬"/>
            </a:pPr>
            <a:r>
              <a:rPr lang="en-US" sz="3004">
                <a:solidFill>
                  <a:srgbClr val="000000"/>
                </a:solidFill>
                <a:latin typeface="Canva Sans"/>
                <a:ea typeface="Canva Sans"/>
                <a:cs typeface="Canva Sans"/>
                <a:sym typeface="Canva Sans"/>
              </a:rPr>
              <a:t>Unit / Integration test</a:t>
            </a:r>
          </a:p>
          <a:p>
            <a:pPr algn="l" marL="686971" indent="-228990" lvl="2">
              <a:lnSpc>
                <a:spcPts val="4206"/>
              </a:lnSpc>
              <a:buFont typeface="Arial"/>
              <a:buChar char="⚬"/>
            </a:pPr>
            <a:r>
              <a:rPr lang="en-US" sz="3004">
                <a:solidFill>
                  <a:srgbClr val="000000"/>
                </a:solidFill>
                <a:latin typeface="Canva Sans"/>
                <a:ea typeface="Canva Sans"/>
                <a:cs typeface="Canva Sans"/>
                <a:sym typeface="Canva Sans"/>
              </a:rPr>
              <a:t>UI Automation (Selenium)</a:t>
            </a:r>
          </a:p>
          <a:p>
            <a:pPr algn="l" marL="686971" indent="-228990" lvl="2">
              <a:lnSpc>
                <a:spcPts val="4206"/>
              </a:lnSpc>
            </a:pPr>
            <a:r>
              <a:rPr lang="en-US" b="true" sz="3004">
                <a:solidFill>
                  <a:srgbClr val="000000"/>
                </a:solidFill>
                <a:latin typeface="Canva Sans Bold"/>
                <a:ea typeface="Canva Sans Bold"/>
                <a:cs typeface="Canva Sans Bold"/>
                <a:sym typeface="Canva Sans Bold"/>
              </a:rPr>
              <a:t>Kiểm thử phi chức năng:</a:t>
            </a:r>
          </a:p>
          <a:p>
            <a:pPr algn="l" marL="686971" indent="-228990" lvl="2">
              <a:lnSpc>
                <a:spcPts val="4206"/>
              </a:lnSpc>
              <a:buFont typeface="Arial"/>
              <a:buChar char="⚬"/>
            </a:pPr>
            <a:r>
              <a:rPr lang="en-US" sz="3004">
                <a:solidFill>
                  <a:srgbClr val="000000"/>
                </a:solidFill>
                <a:latin typeface="Canva Sans"/>
                <a:ea typeface="Canva Sans"/>
                <a:cs typeface="Canva Sans"/>
                <a:sym typeface="Canva Sans"/>
              </a:rPr>
              <a:t>Load Test</a:t>
            </a:r>
          </a:p>
          <a:p>
            <a:pPr algn="l" marL="686971" indent="-228990" lvl="2">
              <a:lnSpc>
                <a:spcPts val="4206"/>
              </a:lnSpc>
              <a:buFont typeface="Arial"/>
              <a:buChar char="⚬"/>
            </a:pPr>
            <a:r>
              <a:rPr lang="en-US" sz="3004">
                <a:solidFill>
                  <a:srgbClr val="000000"/>
                </a:solidFill>
                <a:latin typeface="Canva Sans"/>
                <a:ea typeface="Canva Sans"/>
                <a:cs typeface="Canva Sans"/>
                <a:sym typeface="Canva Sans"/>
              </a:rPr>
              <a:t>Stress Test</a:t>
            </a:r>
          </a:p>
          <a:p>
            <a:pPr algn="l" marL="686971" indent="-228990" lvl="2">
              <a:lnSpc>
                <a:spcPts val="4206"/>
              </a:lnSpc>
            </a:pPr>
            <a:r>
              <a:rPr lang="en-US" b="true" sz="3004">
                <a:solidFill>
                  <a:srgbClr val="000000"/>
                </a:solidFill>
                <a:latin typeface="Canva Sans Bold"/>
                <a:ea typeface="Canva Sans Bold"/>
                <a:cs typeface="Canva Sans Bold"/>
                <a:sym typeface="Canva Sans Bold"/>
              </a:rPr>
              <a:t>Tích hợp CI/CD</a:t>
            </a:r>
          </a:p>
        </p:txBody>
      </p:sp>
      <p:sp>
        <p:nvSpPr>
          <p:cNvPr name="TextBox 4" id="4"/>
          <p:cNvSpPr txBox="true"/>
          <p:nvPr/>
        </p:nvSpPr>
        <p:spPr>
          <a:xfrm rot="0">
            <a:off x="1028700" y="46358"/>
            <a:ext cx="7590892" cy="982342"/>
          </a:xfrm>
          <a:prstGeom prst="rect">
            <a:avLst/>
          </a:prstGeom>
        </p:spPr>
        <p:txBody>
          <a:bodyPr anchor="t" rtlCol="false" tIns="0" lIns="0" bIns="0" rIns="0">
            <a:spAutoFit/>
          </a:bodyPr>
          <a:lstStyle/>
          <a:p>
            <a:pPr algn="ctr">
              <a:lnSpc>
                <a:spcPts val="7278"/>
              </a:lnSpc>
            </a:pPr>
            <a:r>
              <a:rPr lang="en-US" sz="5198" b="true">
                <a:solidFill>
                  <a:srgbClr val="000000"/>
                </a:solidFill>
                <a:latin typeface="Canva Sans Bold"/>
                <a:ea typeface="Canva Sans Bold"/>
                <a:cs typeface="Canva Sans Bold"/>
                <a:sym typeface="Canva Sans Bold"/>
              </a:rPr>
              <a:t>4. Kết quả đạt được</a:t>
            </a:r>
          </a:p>
        </p:txBody>
      </p:sp>
      <p:sp>
        <p:nvSpPr>
          <p:cNvPr name="TextBox 5" id="5"/>
          <p:cNvSpPr txBox="true"/>
          <p:nvPr/>
        </p:nvSpPr>
        <p:spPr>
          <a:xfrm rot="0">
            <a:off x="1279588" y="1330004"/>
            <a:ext cx="5959316" cy="644528"/>
          </a:xfrm>
          <a:prstGeom prst="rect">
            <a:avLst/>
          </a:prstGeom>
        </p:spPr>
        <p:txBody>
          <a:bodyPr anchor="t" rtlCol="false" tIns="0" lIns="0" bIns="0" rIns="0">
            <a:spAutoFit/>
          </a:bodyPr>
          <a:lstStyle/>
          <a:p>
            <a:pPr algn="ctr">
              <a:lnSpc>
                <a:spcPts val="4898"/>
              </a:lnSpc>
            </a:pPr>
            <a:r>
              <a:rPr lang="en-US" sz="3499" b="true">
                <a:solidFill>
                  <a:srgbClr val="000000"/>
                </a:solidFill>
                <a:latin typeface="Canva Sans Bold"/>
                <a:ea typeface="Canva Sans Bold"/>
                <a:cs typeface="Canva Sans Bold"/>
                <a:sym typeface="Canva Sans Bold"/>
              </a:rPr>
              <a:t>Quá trình thực thi kiểm thử</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2586923"/>
            <a:ext cx="9590370" cy="5532387"/>
            <a:chOff x="0" y="0"/>
            <a:chExt cx="12787160" cy="7376516"/>
          </a:xfrm>
        </p:grpSpPr>
        <p:sp>
          <p:nvSpPr>
            <p:cNvPr name="Freeform 3" id="3"/>
            <p:cNvSpPr/>
            <p:nvPr/>
          </p:nvSpPr>
          <p:spPr>
            <a:xfrm flipH="false" flipV="false" rot="0">
              <a:off x="0" y="0"/>
              <a:ext cx="12787122" cy="7376541"/>
            </a:xfrm>
            <a:custGeom>
              <a:avLst/>
              <a:gdLst/>
              <a:ahLst/>
              <a:cxnLst/>
              <a:rect r="r" b="b" t="t" l="l"/>
              <a:pathLst>
                <a:path h="7376541" w="12787122">
                  <a:moveTo>
                    <a:pt x="0" y="0"/>
                  </a:moveTo>
                  <a:lnTo>
                    <a:pt x="12787122" y="0"/>
                  </a:lnTo>
                  <a:lnTo>
                    <a:pt x="12787122" y="7376541"/>
                  </a:lnTo>
                  <a:lnTo>
                    <a:pt x="0" y="7376541"/>
                  </a:lnTo>
                  <a:lnTo>
                    <a:pt x="0" y="0"/>
                  </a:lnTo>
                  <a:close/>
                </a:path>
              </a:pathLst>
            </a:custGeom>
            <a:blipFill>
              <a:blip r:embed="rId2"/>
              <a:stretch>
                <a:fillRect l="0" t="0" r="0" b="0"/>
              </a:stretch>
            </a:blipFill>
          </p:spPr>
        </p:sp>
      </p:grpSp>
      <p:sp>
        <p:nvSpPr>
          <p:cNvPr name="TextBox 4" id="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18</a:t>
            </a:r>
          </a:p>
        </p:txBody>
      </p:sp>
      <p:sp>
        <p:nvSpPr>
          <p:cNvPr name="TextBox 5" id="5"/>
          <p:cNvSpPr txBox="true"/>
          <p:nvPr/>
        </p:nvSpPr>
        <p:spPr>
          <a:xfrm rot="0">
            <a:off x="5626694" y="1017708"/>
            <a:ext cx="5227434" cy="864232"/>
          </a:xfrm>
          <a:prstGeom prst="rect">
            <a:avLst/>
          </a:prstGeom>
        </p:spPr>
        <p:txBody>
          <a:bodyPr anchor="t" rtlCol="false" tIns="0" lIns="0" bIns="0" rIns="0">
            <a:spAutoFit/>
          </a:bodyPr>
          <a:lstStyle/>
          <a:p>
            <a:pPr algn="ctr">
              <a:lnSpc>
                <a:spcPts val="6440"/>
              </a:lnSpc>
            </a:pPr>
            <a:r>
              <a:rPr lang="en-US" sz="4600" b="true">
                <a:solidFill>
                  <a:srgbClr val="000000"/>
                </a:solidFill>
                <a:latin typeface="Canva Sans Bold"/>
                <a:ea typeface="Canva Sans Bold"/>
                <a:cs typeface="Canva Sans Bold"/>
                <a:sym typeface="Canva Sans Bold"/>
              </a:rPr>
              <a:t>Báo Cáo Kiểm Thử</a:t>
            </a:r>
          </a:p>
        </p:txBody>
      </p:sp>
      <p:sp>
        <p:nvSpPr>
          <p:cNvPr name="TextBox 6" id="6"/>
          <p:cNvSpPr txBox="true"/>
          <p:nvPr/>
        </p:nvSpPr>
        <p:spPr>
          <a:xfrm rot="0">
            <a:off x="1238708" y="2296153"/>
            <a:ext cx="4868466" cy="3238500"/>
          </a:xfrm>
          <a:prstGeom prst="rect">
            <a:avLst/>
          </a:prstGeom>
        </p:spPr>
        <p:txBody>
          <a:bodyPr anchor="t" rtlCol="false" tIns="0" lIns="0" bIns="0" rIns="0">
            <a:spAutoFit/>
          </a:bodyPr>
          <a:lstStyle/>
          <a:p>
            <a:pPr algn="l">
              <a:lnSpc>
                <a:spcPts val="4200"/>
              </a:lnSpc>
            </a:pPr>
            <a:r>
              <a:rPr lang="en-US" sz="3000" b="true">
                <a:solidFill>
                  <a:srgbClr val="000000"/>
                </a:solidFill>
                <a:latin typeface="Canva Sans Bold"/>
                <a:ea typeface="Canva Sans Bold"/>
                <a:cs typeface="Canva Sans Bold"/>
                <a:sym typeface="Canva Sans Bold"/>
              </a:rPr>
              <a:t>Kết quả thực thi Test Case</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Tổng số Test Case: 34</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Passed: 33 (97.1%)</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Failed: 1 (2.9%)</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Blocked / Not run: 0</a:t>
            </a:r>
          </a:p>
          <a:p>
            <a:pPr algn="l" marL="685800" indent="-228600" lvl="2">
              <a:lnSpc>
                <a:spcPts val="4200"/>
              </a:lnSpc>
            </a:pPr>
          </a:p>
        </p:txBody>
      </p:sp>
      <p:sp>
        <p:nvSpPr>
          <p:cNvPr name="TextBox 7" id="7"/>
          <p:cNvSpPr txBox="true"/>
          <p:nvPr/>
        </p:nvSpPr>
        <p:spPr>
          <a:xfrm rot="0">
            <a:off x="1480566" y="5655574"/>
            <a:ext cx="6355747" cy="2705100"/>
          </a:xfrm>
          <a:prstGeom prst="rect">
            <a:avLst/>
          </a:prstGeom>
        </p:spPr>
        <p:txBody>
          <a:bodyPr anchor="t" rtlCol="false" tIns="0" lIns="0" bIns="0" rIns="0">
            <a:spAutoFit/>
          </a:bodyPr>
          <a:lstStyle/>
          <a:p>
            <a:pPr algn="l">
              <a:lnSpc>
                <a:spcPts val="4200"/>
              </a:lnSpc>
            </a:pPr>
            <a:r>
              <a:rPr lang="en-US" sz="3000" b="true">
                <a:solidFill>
                  <a:srgbClr val="000000"/>
                </a:solidFill>
                <a:latin typeface="Canva Sans Bold"/>
                <a:ea typeface="Canva Sans Bold"/>
                <a:cs typeface="Canva Sans Bold"/>
                <a:sym typeface="Canva Sans Bold"/>
              </a:rPr>
              <a:t>Phạm vi bao phủ</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Chức năng: 100%</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Phi chức năng: Đã thực hiện Load Test, Stress Test, UI Automation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66672" y="1662979"/>
            <a:ext cx="5713009" cy="5155178"/>
            <a:chOff x="0" y="0"/>
            <a:chExt cx="7617346" cy="6873570"/>
          </a:xfrm>
        </p:grpSpPr>
        <p:sp>
          <p:nvSpPr>
            <p:cNvPr name="Freeform 3" id="3"/>
            <p:cNvSpPr/>
            <p:nvPr/>
          </p:nvSpPr>
          <p:spPr>
            <a:xfrm flipH="false" flipV="false" rot="0">
              <a:off x="0" y="0"/>
              <a:ext cx="7617333" cy="6873621"/>
            </a:xfrm>
            <a:custGeom>
              <a:avLst/>
              <a:gdLst/>
              <a:ahLst/>
              <a:cxnLst/>
              <a:rect r="r" b="b" t="t" l="l"/>
              <a:pathLst>
                <a:path h="6873621" w="7617333">
                  <a:moveTo>
                    <a:pt x="0" y="0"/>
                  </a:moveTo>
                  <a:lnTo>
                    <a:pt x="7617333" y="0"/>
                  </a:lnTo>
                  <a:lnTo>
                    <a:pt x="7617333" y="6873621"/>
                  </a:lnTo>
                  <a:lnTo>
                    <a:pt x="0" y="6873621"/>
                  </a:lnTo>
                  <a:lnTo>
                    <a:pt x="0" y="0"/>
                  </a:lnTo>
                  <a:close/>
                </a:path>
              </a:pathLst>
            </a:custGeom>
            <a:blipFill>
              <a:blip r:embed="rId2"/>
              <a:stretch>
                <a:fillRect l="0" t="0" r="0" b="0"/>
              </a:stretch>
            </a:blipFill>
          </p:spPr>
        </p:sp>
      </p:grpSp>
      <p:sp>
        <p:nvSpPr>
          <p:cNvPr name="TextBox 4" id="4"/>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19</a:t>
            </a:r>
          </a:p>
        </p:txBody>
      </p:sp>
      <p:sp>
        <p:nvSpPr>
          <p:cNvPr name="TextBox 5" id="5"/>
          <p:cNvSpPr txBox="true"/>
          <p:nvPr/>
        </p:nvSpPr>
        <p:spPr>
          <a:xfrm rot="0">
            <a:off x="6031725" y="164468"/>
            <a:ext cx="6615951" cy="864232"/>
          </a:xfrm>
          <a:prstGeom prst="rect">
            <a:avLst/>
          </a:prstGeom>
        </p:spPr>
        <p:txBody>
          <a:bodyPr anchor="t" rtlCol="false" tIns="0" lIns="0" bIns="0" rIns="0">
            <a:spAutoFit/>
          </a:bodyPr>
          <a:lstStyle/>
          <a:p>
            <a:pPr algn="ctr">
              <a:lnSpc>
                <a:spcPts val="6440"/>
              </a:lnSpc>
            </a:pPr>
            <a:r>
              <a:rPr lang="en-US" sz="4600" b="true">
                <a:solidFill>
                  <a:srgbClr val="000000"/>
                </a:solidFill>
                <a:latin typeface="Canva Sans Bold"/>
                <a:ea typeface="Canva Sans Bold"/>
                <a:cs typeface="Canva Sans Bold"/>
                <a:sym typeface="Canva Sans Bold"/>
              </a:rPr>
              <a:t>Báo Cáo Lỗi &amp; Đánh Giá</a:t>
            </a:r>
          </a:p>
        </p:txBody>
      </p:sp>
      <p:sp>
        <p:nvSpPr>
          <p:cNvPr name="TextBox 6" id="6"/>
          <p:cNvSpPr txBox="true"/>
          <p:nvPr/>
        </p:nvSpPr>
        <p:spPr>
          <a:xfrm rot="0">
            <a:off x="2004451" y="1170718"/>
            <a:ext cx="5472408" cy="2705100"/>
          </a:xfrm>
          <a:prstGeom prst="rect">
            <a:avLst/>
          </a:prstGeom>
        </p:spPr>
        <p:txBody>
          <a:bodyPr anchor="t" rtlCol="false" tIns="0" lIns="0" bIns="0" rIns="0">
            <a:spAutoFit/>
          </a:bodyPr>
          <a:lstStyle/>
          <a:p>
            <a:pPr algn="l">
              <a:lnSpc>
                <a:spcPts val="4200"/>
              </a:lnSpc>
            </a:pPr>
            <a:r>
              <a:rPr lang="en-US" sz="3000" b="true">
                <a:solidFill>
                  <a:srgbClr val="000000"/>
                </a:solidFill>
                <a:latin typeface="Canva Sans Bold"/>
                <a:ea typeface="Canva Sans Bold"/>
                <a:cs typeface="Canva Sans Bold"/>
                <a:sym typeface="Canva Sans Bold"/>
              </a:rPr>
              <a:t>Báo cáo lỗi</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Tổng lỗi Test Case: 1</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Không có lỗi Medium</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1 lỗi Low</a:t>
            </a:r>
          </a:p>
          <a:p>
            <a:pPr algn="l" marL="685800" indent="-228600" lvl="2">
              <a:lnSpc>
                <a:spcPts val="4200"/>
              </a:lnSpc>
              <a:buFont typeface="Arial"/>
              <a:buChar char="⚬"/>
            </a:pPr>
            <a:r>
              <a:rPr lang="en-US" sz="3000">
                <a:solidFill>
                  <a:srgbClr val="000000"/>
                </a:solidFill>
                <a:latin typeface="Canva Sans"/>
                <a:ea typeface="Canva Sans"/>
                <a:cs typeface="Canva Sans"/>
                <a:sym typeface="Canva Sans"/>
              </a:rPr>
              <a:t>Không có lỗi High / Critical</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38200"/>
            <a:ext cx="10269588" cy="982342"/>
          </a:xfrm>
          <a:prstGeom prst="rect">
            <a:avLst/>
          </a:prstGeom>
        </p:spPr>
        <p:txBody>
          <a:bodyPr anchor="t" rtlCol="false" tIns="0" lIns="0" bIns="0" rIns="0">
            <a:spAutoFit/>
          </a:bodyPr>
          <a:lstStyle/>
          <a:p>
            <a:pPr algn="l">
              <a:lnSpc>
                <a:spcPts val="7278"/>
              </a:lnSpc>
            </a:pPr>
            <a:r>
              <a:rPr lang="en-US" sz="5198" b="true">
                <a:solidFill>
                  <a:srgbClr val="000000"/>
                </a:solidFill>
                <a:latin typeface="Canva Sans Bold"/>
                <a:ea typeface="Canva Sans Bold"/>
                <a:cs typeface="Canva Sans Bold"/>
                <a:sym typeface="Canva Sans Bold"/>
              </a:rPr>
              <a:t>5. Kết luận &amp; Hướng phát triển</a:t>
            </a:r>
          </a:p>
        </p:txBody>
      </p:sp>
      <p:sp>
        <p:nvSpPr>
          <p:cNvPr name="TextBox 3" id="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20</a:t>
            </a:r>
          </a:p>
        </p:txBody>
      </p:sp>
      <p:sp>
        <p:nvSpPr>
          <p:cNvPr name="TextBox 4" id="4"/>
          <p:cNvSpPr txBox="true"/>
          <p:nvPr/>
        </p:nvSpPr>
        <p:spPr>
          <a:xfrm rot="0">
            <a:off x="1028700" y="2035416"/>
            <a:ext cx="10789568" cy="3686175"/>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Kết luận</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Xây dựng quy trình kiểm thử hoàn chỉnh cho Web TMĐT</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Áp dụng V-Model xuyên suốt vòng đời phát triển</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Thực hiện kiểm thử chức năng &amp; phi chức năng</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Tự động hóa kiểm thử với Selenium</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Tích hợp kiểm thử vào CI/CD</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Hệ thống đáp ứng yêu cầu triển khai</a:t>
            </a:r>
          </a:p>
        </p:txBody>
      </p:sp>
      <p:sp>
        <p:nvSpPr>
          <p:cNvPr name="TextBox 5" id="5"/>
          <p:cNvSpPr txBox="true"/>
          <p:nvPr/>
        </p:nvSpPr>
        <p:spPr>
          <a:xfrm rot="0">
            <a:off x="8377948" y="6418477"/>
            <a:ext cx="9641796" cy="3114650"/>
          </a:xfrm>
          <a:prstGeom prst="rect">
            <a:avLst/>
          </a:prstGeom>
        </p:spPr>
        <p:txBody>
          <a:bodyPr anchor="t" rtlCol="false" tIns="0" lIns="0" bIns="0" rIns="0">
            <a:spAutoFit/>
          </a:bodyPr>
          <a:lstStyle/>
          <a:p>
            <a:pPr algn="l">
              <a:lnSpc>
                <a:spcPts val="4198"/>
              </a:lnSpc>
            </a:pPr>
            <a:r>
              <a:rPr lang="en-US" sz="2999" b="true">
                <a:solidFill>
                  <a:srgbClr val="000000"/>
                </a:solidFill>
                <a:latin typeface="Canva Sans Bold"/>
                <a:ea typeface="Canva Sans Bold"/>
                <a:cs typeface="Canva Sans Bold"/>
                <a:sym typeface="Canva Sans Bold"/>
              </a:rPr>
              <a:t>Hướng phát triển</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Mở rộng kiểm thử phi chức năng toàn diện hơn</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Bổ sung kiểm thử bảo mật chuyên sâu</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Mở rộng phạm vi tự động hóa Selenium (E2E)</a:t>
            </a:r>
          </a:p>
          <a:p>
            <a:pPr algn="l" marL="685676" indent="-228559" lvl="2">
              <a:lnSpc>
                <a:spcPts val="4198"/>
              </a:lnSpc>
              <a:buFont typeface="Arial"/>
              <a:buChar char="⚬"/>
            </a:pPr>
            <a:r>
              <a:rPr lang="en-US" sz="2999">
                <a:solidFill>
                  <a:srgbClr val="000000"/>
                </a:solidFill>
                <a:latin typeface="Canva Sans"/>
                <a:ea typeface="Canva Sans"/>
                <a:cs typeface="Canva Sans"/>
                <a:sym typeface="Canva Sans"/>
              </a:rPr>
              <a:t>Tối ưu kịch bản Load / Stress Test</a:t>
            </a:r>
          </a:p>
          <a:p>
            <a:pPr algn="l" marL="685676" indent="-228559" lvl="2">
              <a:lnSpc>
                <a:spcPts val="4198"/>
              </a:lnSpc>
              <a:buFont typeface="Arial"/>
              <a:buChar char="⚬"/>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933293" y="3197095"/>
            <a:ext cx="8421405" cy="3114802"/>
          </a:xfrm>
          <a:prstGeom prst="rect">
            <a:avLst/>
          </a:prstGeom>
        </p:spPr>
        <p:txBody>
          <a:bodyPr anchor="t" rtlCol="false" tIns="0" lIns="0" bIns="0" rIns="0">
            <a:spAutoFit/>
          </a:bodyPr>
          <a:lstStyle/>
          <a:p>
            <a:pPr algn="ctr">
              <a:lnSpc>
                <a:spcPts val="12599"/>
              </a:lnSpc>
            </a:pPr>
            <a:r>
              <a:rPr lang="en-US" b="true" sz="9000">
                <a:solidFill>
                  <a:srgbClr val="FF66C4"/>
                </a:solidFill>
                <a:latin typeface="Canva Sans Bold"/>
                <a:ea typeface="Canva Sans Bold"/>
                <a:cs typeface="Canva Sans Bold"/>
                <a:sym typeface="Canva Sans Bold"/>
              </a:rPr>
              <a:t>CẢM ƠN ĐÃ </a:t>
            </a:r>
          </a:p>
          <a:p>
            <a:pPr algn="ctr">
              <a:lnSpc>
                <a:spcPts val="12599"/>
              </a:lnSpc>
            </a:pPr>
            <a:r>
              <a:rPr lang="en-US" b="true" sz="9000">
                <a:solidFill>
                  <a:srgbClr val="FF66C4"/>
                </a:solidFill>
                <a:latin typeface="Canva Sans Bold"/>
                <a:ea typeface="Canva Sans Bold"/>
                <a:cs typeface="Canva Sans Bold"/>
                <a:sym typeface="Canva Sans Bold"/>
              </a:rPr>
              <a:t>LẮNG NGHE</a:t>
            </a:r>
          </a:p>
        </p:txBody>
      </p:sp>
      <p:sp>
        <p:nvSpPr>
          <p:cNvPr name="TextBox 3" id="3"/>
          <p:cNvSpPr txBox="true"/>
          <p:nvPr/>
        </p:nvSpPr>
        <p:spPr>
          <a:xfrm rot="0">
            <a:off x="17259300" y="9163050"/>
            <a:ext cx="152400" cy="247650"/>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DAG8Hu8-0oI</dc:identifier>
  <dcterms:modified xsi:type="dcterms:W3CDTF">2011-08-01T06:04:30Z</dcterms:modified>
  <cp:revision>1</cp:revision>
  <dc:title>Hướng phát triển Mở rộng kiểm thử phi chức năng toàn diện hơn Bổ sung kiểm thử bảo mật chuyên sâu Mở rộng phạm vi tự động hóa Selenium (E2E) Tối ưu kịch bản Load / Stress Test</dc:title>
</cp:coreProperties>
</file>